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523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idea that FMS is not just a machine. It is a connected factory ecosystem designed to balance efficiency with versatility.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addressing the “Why.” In the past, if a company wanted to be efficient, they had to make 100,000 identical items. If the customer wanted a slight change, the factory had to stop for weeks to retool.,Definition: Flexible Manufacturing Systems is a production method that uses a central computer to coordinate various machines, allowing the system to react almost instantly to changes in product design or production volume.,The vibe: FMS is like the Swiss Army Knife of factories. It is not just a tool; it is an ecosystem that balances efficiency with versatility.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help the audience understand, compare the old way with the new way. Traditional mass production focuses on high volume and lowest cost per unit, but changeover is slow and expensive. FMS focuses on mass customization and variety, with fast, software-driven changeover.,Talking point: in today’s world, product life cycles are shorter. People want the newest phone or a custom-colored car every year. Rigid systems cannot keep up; FMS is the solution to this market volatility.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that FMS is not just one machine; it is three parts working as one: processing stations, automated material handling, and the central control computer.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Processing stations are usually CNC machines. They are versatile robots that can switch from drilling to milling to cutting just by downloading a new instruction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material handling is how parts move between machines without human hands. AGVs are small driverless robots that navigate the floor. AS/RS are high-tech warehouses that hand the right part to the robot at exactly the right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control computer is the brain. It monitors which machines are busy, which tools are getting dull and need replacing, and the priority of incoming orders. It ensures that if one machine fails, the whole factory does not stop; it reroutes the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Automotive industry: mastering mixed-model assembly. In the past, a car factory had one assembly line for a sedan and a completely different line for an SUV. If nobody bought the sedan, that entire line sat idle, losing money. Today, auto manufacturers use mixed-model assembly.,As a car chassis moves down the conveyor, it carries a digital tag like an RFID chip. When it enters a workstation, the central computer reads the tag and tells the robotic arms exactly what to do. The robots can instantly swap tools to weld an SUV roof, and 60 seconds later swap tools again to weld a compact sedan.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BMW Group example. BMW’s manufacturing plants, like their plant in Munich, integrated FMS so deeply that they can build an internal combustion engine car, a plug-in hybrid, and a fully electric vehicle like the BMW i4 on the exact same assembly line.,The impact: when consumer demand shifted toward electric vehicles, BMW did not have to build a brand-new factory. Their flexible system adjusted the ratio, sending more EV parts down the line without missing a beat.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Aerospace has the opposite problem of the car industry. They do not make 1,000 planes a day; they might make 50 a year. It is low-volume, but parts are incredibly complex, highly regulated, and made from expensive materials like titanium.,In aerospace, FMS is used in machining centers. A single jet engine turbine blade might need milling, drilling, grinding, and laser inspection. Instead of a human moving the expensive metal from machine to machine, an FMS clamps the raw metal block once and cycles through hundreds of different tools, shaping the part to microscopic precision.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 Aerospace / Aviation example. GE Aerospace uses FMS to produce complex jet engine components. They use massive, multi-axis CNC machines connected by automated pallets. The system can be loaded with raw materials on a Friday afternoon and run entirely lights out over the weekend.,If GE needs to switch from making parts for a Boeing 737 to a larger Boeing 777, the central computer loads a new digital file. Robots fetch the required drill bits, and production switches smoothly. This reduces human error, which matters when one mistake on a titanium block can cost tens of thousands of dollars.,Hand-off: So, whether it is building a custom car every 60 seconds or carving a perfect jet engine part overnight, FMS is the engine behind modern industry. But how do these machines actually know what to do without crashing into each other? To explain the technology and software that makes this possible, I’ll pass it over to Speaker 3.,Speaking tips: The contrast between the two industries is the strongest point. Emphasize that Automotive is about speed and variety, while Aerospace is about extreme precision and avoiding expensive mistakes. When talking about robots changing tools for the sedan versus the SUV, use your hands to demonstrate the swift mechanical swap.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explaining how physical machines evolved to become flexible.,Traditional machines move in three directions, but an FMS typically uses 5-axis or even 7-axis CNC machines. This allows the machine to reach every side of a part without a human having to stop and manually flip the part over.,These robots have a library of tools, such as drills, sanders, and polishers. When the code changes, the robot automatically swaps its own hand in seconds.,Key concept: One-and-Done. The goal of FMS hardware is to take a raw piece of material and turn it into a finished product in a single setup, eliminating time wasted moving parts between specialized machines.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information systems side of the project shines.,A Digital Twin is a perfect virtual 3D replica of the physical factory floor. Before a single piece of metal is cut, engineers run the entire production in a simulation.,Minimizing downtime: collision detection checks if a robot arm will accidentally hit a wall or another machine. Optimization allows the computer to run 1,000 different scenarios to find the fastest way to move parts through the factory.,The role of IoT: sensors are the nerve endings of the factory. They are attached to every motor and belt, feeding real-time data such as vibration, temperature, and speed back to the Digital Twin. This allows the system to see what is happening in the physical world and reflect it in the virtual world instantly.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explain how the system thinks when things go wrong. An FMS is only as good as its ability to communicate.,Dynamic scheduling: if a high-priority rush order comes in, the central computer does not need a manager to come down to the floor. It automatically recalculates the schedule, tells the AGVs to move the rush parts to the front of the line, and updates the delivery estimate.,Predictive maintenance: because of IoT sensors, the system can hear if a tool is about to break before it actually does.,Real-time adjustment: if a drill bit is getting dull, the system automatically schedules a tool change during a natural break in production, or reroutes the part to a different machine with a fresh tool.,The nervous system: this requires full-stack integration, where the customer order software is directly connected to the robot movements in the hardware.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elephant in the room: FMS is incredibly expensive. Building an FMS requires a massive initial investment: high-end robotics, complex software, and specialized staff training.,The long-term win: this is a shift from labor-intensive to capital-intensive production. Companies save on labor costs and setup time. In a traditional factory, time spent retooling is money lost. In FMS, that cost drops to nearly zero.,Inventory: because you can make parts Just-In-Time, you do not need giant expensive warehouses to store unsold products. You only make what you have already sold.,Future trends: mass customization means moving away from the era of everyone getting the same blue shirt. FMS allows Lot Size One, so a factory can produce a custom-fitted sneaker or personalized laptop as cheaply as a generic one. FMS makes the personal touch profitable at scale.,Sustainability: because the central computer is precise, there is less scrap metal or wasted plastic. Smart systems can power down sections of the factory when not in use, reducing the carbon footprint.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Grand finale: summarize the points made by the group and end strongly.,Summary: We started by looking at how manufacturing evolved from rigid assembly lines to fluid systems. We saw how giants like BMW and Lockheed Martin use this to build our cars and planes with zero errors. We explored the Digital Twins and AI that act as the invisible hands guiding every movement.,Closing thought: In conclusion, Flexible Manufacturing Systems are not just a fancy way to move robots. They are the bridge between the industrial past and a customized, sustainable future. It is not just about making things better; it is about making things smarter. Thank you, and we are now open for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457200" y="6492240"/>
            <a:ext cx="11247120" cy="0"/>
          </a:xfrm>
          <a:prstGeom prst="line">
            <a:avLst/>
          </a:prstGeom>
          <a:noFill/>
          <a:ln w="12700">
            <a:solidFill>
              <a:srgbClr val="BBD7F2"/>
            </a:solidFill>
            <a:prstDash val="solid"/>
          </a:ln>
        </p:spPr>
        <p:txBody>
          <a:bodyPr/>
          <a:lstStyle/>
          <a:p>
            <a:endParaRPr lang="en-US"/>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B"/>
        </a:solidFill>
        <a:effectLst/>
      </p:bgPr>
    </p:bg>
    <p:spTree>
      <p:nvGrpSpPr>
        <p:cNvPr id="1" name=""/>
        <p:cNvGrpSpPr/>
        <p:nvPr/>
      </p:nvGrpSpPr>
      <p:grpSpPr>
        <a:xfrm>
          <a:off x="0" y="0"/>
          <a:ext cx="0" cy="0"/>
          <a:chOff x="0" y="0"/>
          <a:chExt cx="0" cy="0"/>
        </a:xfrm>
      </p:grpSpPr>
      <p:pic>
        <p:nvPicPr>
          <p:cNvPr id="2" name="Image 0" descr="/mnt/data/a_wide_high_detail_realistic_industrial_factory.png"/>
          <p:cNvPicPr>
            <a:picLocks noChangeAspect="1"/>
          </p:cNvPicPr>
          <p:nvPr/>
        </p:nvPicPr>
        <p:blipFill>
          <a:blip r:embed="rId3"/>
          <a:srcRect l="25687" r="25687"/>
          <a:stretch/>
        </p:blipFill>
        <p:spPr>
          <a:xfrm>
            <a:off x="6263640" y="0"/>
            <a:ext cx="5925312" cy="6858000"/>
          </a:xfrm>
          <a:prstGeom prst="rect">
            <a:avLst/>
          </a:prstGeom>
        </p:spPr>
      </p:pic>
      <p:sp>
        <p:nvSpPr>
          <p:cNvPr id="3" name="Shape 0"/>
          <p:cNvSpPr/>
          <p:nvPr/>
        </p:nvSpPr>
        <p:spPr>
          <a:xfrm>
            <a:off x="0" y="18662"/>
            <a:ext cx="6263640" cy="6858000"/>
          </a:xfrm>
          <a:prstGeom prst="rect">
            <a:avLst/>
          </a:prstGeom>
          <a:solidFill>
            <a:srgbClr val="0B152B"/>
          </a:solidFill>
          <a:ln w="12700">
            <a:solidFill>
              <a:srgbClr val="333333">
                <a:alpha val="0"/>
              </a:srgbClr>
            </a:solidFill>
            <a:prstDash val="solid"/>
          </a:ln>
        </p:spPr>
        <p:txBody>
          <a:bodyPr/>
          <a:lstStyle/>
          <a:p>
            <a:endParaRPr lang="en-US" dirty="0"/>
          </a:p>
        </p:txBody>
      </p:sp>
      <p:sp>
        <p:nvSpPr>
          <p:cNvPr id="4" name="Text 1"/>
          <p:cNvSpPr/>
          <p:nvPr/>
        </p:nvSpPr>
        <p:spPr>
          <a:xfrm>
            <a:off x="658368" y="1051560"/>
            <a:ext cx="5349240" cy="1188720"/>
          </a:xfrm>
          <a:prstGeom prst="rect">
            <a:avLst/>
          </a:prstGeom>
          <a:noFill/>
          <a:ln/>
        </p:spPr>
        <p:txBody>
          <a:bodyPr wrap="square" lIns="0" tIns="0" rIns="0" bIns="0" rtlCol="0" anchor="ctr">
            <a:normAutofit fontScale="85000" lnSpcReduction="10000"/>
          </a:bodyP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Industrial Applications of</a:t>
            </a:r>
            <a:endParaRPr lang="en-US" sz="3600" dirty="0"/>
          </a:p>
          <a:p>
            <a:pPr marL="0" indent="0">
              <a:buNone/>
            </a:pPr>
            <a:r>
              <a:rPr lang="en-US" sz="3600" b="1" dirty="0">
                <a:solidFill>
                  <a:srgbClr val="FFFFFF"/>
                </a:solidFill>
                <a:latin typeface="Aptos Display" pitchFamily="34" charset="0"/>
                <a:ea typeface="Aptos Display" pitchFamily="34" charset="-122"/>
                <a:cs typeface="Aptos Display" pitchFamily="34" charset="-120"/>
              </a:rPr>
              <a:t>Flexible Manufacturing Systems</a:t>
            </a:r>
            <a:endParaRPr lang="en-US" sz="3600" dirty="0"/>
          </a:p>
        </p:txBody>
      </p:sp>
      <p:sp>
        <p:nvSpPr>
          <p:cNvPr id="5" name="Text 2"/>
          <p:cNvSpPr/>
          <p:nvPr/>
        </p:nvSpPr>
        <p:spPr>
          <a:xfrm>
            <a:off x="571500" y="2504803"/>
            <a:ext cx="5120640" cy="320040"/>
          </a:xfrm>
          <a:prstGeom prst="rect">
            <a:avLst/>
          </a:prstGeom>
          <a:noFill/>
          <a:ln/>
        </p:spPr>
        <p:txBody>
          <a:bodyPr wrap="square" lIns="0" tIns="0" rIns="0" bIns="0" rtlCol="0" anchor="ctr"/>
          <a:lstStyle/>
          <a:p>
            <a:pPr marL="0" indent="0" algn="ctr">
              <a:buNone/>
            </a:pPr>
            <a:r>
              <a:rPr lang="en-US" sz="1700" dirty="0">
                <a:solidFill>
                  <a:srgbClr val="D9ECFF"/>
                </a:solidFill>
              </a:rPr>
              <a:t>Production Management Class </a:t>
            </a:r>
            <a:endParaRPr lang="en-US" sz="1700" dirty="0"/>
          </a:p>
        </p:txBody>
      </p:sp>
      <p:sp>
        <p:nvSpPr>
          <p:cNvPr id="6" name="Shape 3"/>
          <p:cNvSpPr/>
          <p:nvPr/>
        </p:nvSpPr>
        <p:spPr>
          <a:xfrm>
            <a:off x="1725930" y="3703320"/>
            <a:ext cx="2834640" cy="384048"/>
          </a:xfrm>
          <a:prstGeom prst="roundRect">
            <a:avLst>
              <a:gd name="adj" fmla="val 28571"/>
            </a:avLst>
          </a:prstGeom>
          <a:solidFill>
            <a:srgbClr val="0B78D0"/>
          </a:solidFill>
          <a:ln w="12700">
            <a:solidFill>
              <a:srgbClr val="333333">
                <a:alpha val="0"/>
              </a:srgbClr>
            </a:solidFill>
            <a:prstDash val="solid"/>
          </a:ln>
        </p:spPr>
        <p:txBody>
          <a:bodyPr/>
          <a:lstStyle/>
          <a:p>
            <a:endParaRPr lang="en-US"/>
          </a:p>
        </p:txBody>
      </p:sp>
      <p:sp>
        <p:nvSpPr>
          <p:cNvPr id="7" name="Text 4"/>
          <p:cNvSpPr/>
          <p:nvPr/>
        </p:nvSpPr>
        <p:spPr>
          <a:xfrm>
            <a:off x="1805940" y="3794760"/>
            <a:ext cx="2651760" cy="201168"/>
          </a:xfrm>
          <a:prstGeom prst="rect">
            <a:avLst/>
          </a:prstGeom>
          <a:noFill/>
          <a:ln/>
        </p:spPr>
        <p:txBody>
          <a:bodyPr wrap="square" lIns="0" tIns="0" rIns="0" bIns="0" rtlCol="0" anchor="ctr"/>
          <a:lstStyle/>
          <a:p>
            <a:pPr marL="0" indent="0" algn="ctr">
              <a:buNone/>
            </a:pPr>
            <a:r>
              <a:rPr lang="en-US" sz="1200" b="1" dirty="0">
                <a:solidFill>
                  <a:srgbClr val="FFFFFF"/>
                </a:solidFill>
              </a:rPr>
              <a:t>FMS = efficiency + versatility</a:t>
            </a:r>
            <a:endParaRPr lang="en-US" sz="1200" dirty="0"/>
          </a:p>
        </p:txBody>
      </p:sp>
      <p:sp>
        <p:nvSpPr>
          <p:cNvPr id="8" name="Text 5"/>
          <p:cNvSpPr/>
          <p:nvPr/>
        </p:nvSpPr>
        <p:spPr>
          <a:xfrm>
            <a:off x="685800" y="3703320"/>
            <a:ext cx="4937760" cy="731520"/>
          </a:xfrm>
          <a:prstGeom prst="rect">
            <a:avLst/>
          </a:prstGeom>
          <a:noFill/>
          <a:ln/>
        </p:spPr>
        <p:txBody>
          <a:bodyPr wrap="square" lIns="0" tIns="0" rIns="0" bIns="0" rtlCol="0" anchor="ctr">
            <a:normAutofit/>
          </a:bodyPr>
          <a:lstStyle/>
          <a:p>
            <a:pPr marL="0" indent="0">
              <a:buNone/>
            </a:pPr>
            <a:endParaRPr lang="en-US" sz="26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Why Do We Need Flexibility?</a:t>
            </a:r>
            <a:endParaRPr lang="en-US" sz="3000" dirty="0"/>
          </a:p>
        </p:txBody>
      </p:sp>
      <p:sp>
        <p:nvSpPr>
          <p:cNvPr id="5" name="Shape 3"/>
          <p:cNvSpPr/>
          <p:nvPr/>
        </p:nvSpPr>
        <p:spPr>
          <a:xfrm>
            <a:off x="640080" y="1325880"/>
            <a:ext cx="5394960" cy="4389120"/>
          </a:xfrm>
          <a:prstGeom prst="roundRect">
            <a:avLst>
              <a:gd name="adj" fmla="val 1667"/>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6" name="Text 4"/>
          <p:cNvSpPr/>
          <p:nvPr/>
        </p:nvSpPr>
        <p:spPr>
          <a:xfrm>
            <a:off x="960120" y="1600200"/>
            <a:ext cx="4846320" cy="320040"/>
          </a:xfrm>
          <a:prstGeom prst="rect">
            <a:avLst/>
          </a:prstGeom>
          <a:noFill/>
          <a:ln/>
        </p:spPr>
        <p:txBody>
          <a:bodyPr wrap="square" lIns="0" tIns="0" rIns="0" bIns="0" rtlCol="0" anchor="ctr"/>
          <a:lstStyle/>
          <a:p>
            <a:pPr marL="0" indent="0">
              <a:buNone/>
            </a:pPr>
            <a:r>
              <a:rPr lang="en-US" sz="2300" b="1" dirty="0">
                <a:solidFill>
                  <a:srgbClr val="0F2447"/>
                </a:solidFill>
              </a:rPr>
              <a:t>In the past...</a:t>
            </a:r>
            <a:endParaRPr lang="en-US" sz="2300" dirty="0"/>
          </a:p>
        </p:txBody>
      </p:sp>
      <p:sp>
        <p:nvSpPr>
          <p:cNvPr id="7" name="Text 5"/>
          <p:cNvSpPr/>
          <p:nvPr/>
        </p:nvSpPr>
        <p:spPr>
          <a:xfrm>
            <a:off x="960120" y="2194560"/>
            <a:ext cx="4663440" cy="1371600"/>
          </a:xfrm>
          <a:prstGeom prst="rect">
            <a:avLst/>
          </a:prstGeom>
          <a:noFill/>
          <a:ln/>
        </p:spPr>
        <p:txBody>
          <a:bodyPr wrap="square" lIns="1016" tIns="1016" rIns="1016" bIns="1016" rtlCol="0" anchor="t">
            <a:normAutofit/>
          </a:bodyPr>
          <a:lstStyle/>
          <a:p>
            <a:pPr marL="0" indent="0">
              <a:buNone/>
            </a:pPr>
            <a:r>
              <a:rPr lang="en-US" sz="1800" b="1" dirty="0">
                <a:solidFill>
                  <a:srgbClr val="0B78D0"/>
                </a:solidFill>
              </a:rPr>
              <a:t>• </a:t>
            </a:r>
            <a:r>
              <a:rPr lang="en-US" sz="1800" dirty="0">
                <a:solidFill>
                  <a:srgbClr val="1E293B"/>
                </a:solidFill>
              </a:rPr>
              <a:t>To be efficient, companies made 100,000 identical items.
</a:t>
            </a:r>
            <a:r>
              <a:rPr lang="en-US" sz="1800" b="1" dirty="0">
                <a:solidFill>
                  <a:srgbClr val="0B78D0"/>
                </a:solidFill>
              </a:rPr>
              <a:t>• </a:t>
            </a:r>
            <a:r>
              <a:rPr lang="en-US" sz="1800" dirty="0">
                <a:solidFill>
                  <a:srgbClr val="1E293B"/>
                </a:solidFill>
              </a:rPr>
              <a:t>If a customer wanted a slight change, the factory had to stop for weeks to retool.</a:t>
            </a:r>
            <a:endParaRPr lang="en-US" sz="1800" dirty="0"/>
          </a:p>
        </p:txBody>
      </p:sp>
      <p:sp>
        <p:nvSpPr>
          <p:cNvPr id="8" name="Text 6"/>
          <p:cNvSpPr/>
          <p:nvPr/>
        </p:nvSpPr>
        <p:spPr>
          <a:xfrm>
            <a:off x="960120" y="3703320"/>
            <a:ext cx="4663440" cy="274320"/>
          </a:xfrm>
          <a:prstGeom prst="rect">
            <a:avLst/>
          </a:prstGeom>
          <a:noFill/>
          <a:ln/>
        </p:spPr>
        <p:txBody>
          <a:bodyPr wrap="square" lIns="0" tIns="0" rIns="0" bIns="0" rtlCol="0" anchor="ctr"/>
          <a:lstStyle/>
          <a:p>
            <a:pPr marL="0" indent="0">
              <a:buNone/>
            </a:pPr>
            <a:r>
              <a:rPr lang="en-US" sz="1800" b="1" dirty="0">
                <a:solidFill>
                  <a:srgbClr val="0B78D0"/>
                </a:solidFill>
              </a:rPr>
              <a:t>The Definition</a:t>
            </a:r>
            <a:endParaRPr lang="en-US" sz="1800" dirty="0"/>
          </a:p>
        </p:txBody>
      </p:sp>
      <p:sp>
        <p:nvSpPr>
          <p:cNvPr id="9" name="Text 7"/>
          <p:cNvSpPr/>
          <p:nvPr/>
        </p:nvSpPr>
        <p:spPr>
          <a:xfrm>
            <a:off x="960120" y="4087368"/>
            <a:ext cx="4663440" cy="1143000"/>
          </a:xfrm>
          <a:prstGeom prst="rect">
            <a:avLst/>
          </a:prstGeom>
          <a:noFill/>
          <a:ln/>
        </p:spPr>
        <p:txBody>
          <a:bodyPr wrap="square" lIns="0" tIns="0" rIns="0" bIns="0" rtlCol="0" anchor="ctr">
            <a:normAutofit lnSpcReduction="10000"/>
          </a:bodyPr>
          <a:lstStyle/>
          <a:p>
            <a:pPr marL="0" indent="0">
              <a:buNone/>
            </a:pPr>
            <a:r>
              <a:rPr lang="en-US" sz="1600" dirty="0">
                <a:solidFill>
                  <a:srgbClr val="1E293B"/>
                </a:solidFill>
              </a:rPr>
              <a:t>Flexible Manufacturing Systems (FMS) is a production method that uses a central computer to coordinate various machines, allowing the system to react almost instantly to changes in product design or production volume.</a:t>
            </a:r>
            <a:endParaRPr lang="en-US" sz="1600" dirty="0"/>
          </a:p>
        </p:txBody>
      </p:sp>
      <p:pic>
        <p:nvPicPr>
          <p:cNvPr id="10" name="Image 0" descr="/mnt/data/a_wide_high_detail_split_scene_industrial_concept.png"/>
          <p:cNvPicPr>
            <a:picLocks noChangeAspect="1"/>
          </p:cNvPicPr>
          <p:nvPr/>
        </p:nvPicPr>
        <p:blipFill>
          <a:blip r:embed="rId3"/>
          <a:srcRect t="820" b="820"/>
          <a:stretch/>
        </p:blipFill>
        <p:spPr>
          <a:xfrm>
            <a:off x="6400800" y="1417320"/>
            <a:ext cx="5120640" cy="2834640"/>
          </a:xfrm>
          <a:prstGeom prst="rect">
            <a:avLst/>
          </a:prstGeom>
        </p:spPr>
      </p:pic>
      <p:sp>
        <p:nvSpPr>
          <p:cNvPr id="11" name="Shape 8"/>
          <p:cNvSpPr/>
          <p:nvPr/>
        </p:nvSpPr>
        <p:spPr>
          <a:xfrm>
            <a:off x="6400800" y="4553712"/>
            <a:ext cx="5120640" cy="1005840"/>
          </a:xfrm>
          <a:prstGeom prst="roundRect">
            <a:avLst>
              <a:gd name="adj" fmla="val 7273"/>
            </a:avLst>
          </a:prstGeom>
          <a:solidFill>
            <a:srgbClr val="EAF4FF"/>
          </a:solidFill>
          <a:ln w="17780">
            <a:solidFill>
              <a:srgbClr val="B5D9F5"/>
            </a:solidFill>
            <a:prstDash val="solid"/>
          </a:ln>
          <a:effectLst>
            <a:outerShdw blurRad="25400" dist="50800" dir="2700000" algn="bl" rotWithShape="0">
              <a:srgbClr val="C8D9EA">
                <a:alpha val="22000"/>
              </a:srgbClr>
            </a:outerShdw>
          </a:effectLst>
        </p:spPr>
        <p:txBody>
          <a:bodyPr/>
          <a:lstStyle/>
          <a:p>
            <a:endParaRPr lang="en-US"/>
          </a:p>
        </p:txBody>
      </p:sp>
      <p:sp>
        <p:nvSpPr>
          <p:cNvPr id="12" name="Text 9"/>
          <p:cNvSpPr/>
          <p:nvPr/>
        </p:nvSpPr>
        <p:spPr>
          <a:xfrm>
            <a:off x="6629400" y="4690872"/>
            <a:ext cx="4572000" cy="210312"/>
          </a:xfrm>
          <a:prstGeom prst="rect">
            <a:avLst/>
          </a:prstGeom>
          <a:noFill/>
          <a:ln/>
        </p:spPr>
        <p:txBody>
          <a:bodyPr wrap="square" lIns="0" tIns="0" rIns="0" bIns="0" rtlCol="0" anchor="ctr"/>
          <a:lstStyle/>
          <a:p>
            <a:pPr marL="0" indent="0">
              <a:buNone/>
            </a:pPr>
            <a:r>
              <a:rPr lang="en-US" sz="1500" b="1" dirty="0">
                <a:solidFill>
                  <a:srgbClr val="0B78D0"/>
                </a:solidFill>
              </a:rPr>
              <a:t>The Vibe</a:t>
            </a:r>
            <a:endParaRPr lang="en-US" sz="1500" dirty="0"/>
          </a:p>
        </p:txBody>
      </p:sp>
      <p:sp>
        <p:nvSpPr>
          <p:cNvPr id="13" name="Text 10"/>
          <p:cNvSpPr/>
          <p:nvPr/>
        </p:nvSpPr>
        <p:spPr>
          <a:xfrm>
            <a:off x="6629400" y="4965192"/>
            <a:ext cx="4526280" cy="347472"/>
          </a:xfrm>
          <a:prstGeom prst="rect">
            <a:avLst/>
          </a:prstGeom>
          <a:noFill/>
          <a:ln/>
        </p:spPr>
        <p:txBody>
          <a:bodyPr wrap="square" lIns="0" tIns="0" rIns="0" bIns="0" rtlCol="0" anchor="ctr">
            <a:normAutofit fontScale="92500" lnSpcReduction="20000"/>
          </a:bodyPr>
          <a:lstStyle/>
          <a:p>
            <a:pPr marL="0" indent="0">
              <a:buNone/>
            </a:pPr>
            <a:r>
              <a:rPr lang="en-US" sz="1450" dirty="0">
                <a:solidFill>
                  <a:srgbClr val="1E293B"/>
                </a:solidFill>
              </a:rPr>
              <a:t>Think of FMS as the “Swiss Army Knife” of factories: an ecosystem that balances efficiency with versatility.</a:t>
            </a:r>
            <a:endParaRPr lang="en-US" sz="145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The Core Problem: Rigidity vs. Flexibility</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Mass production is efficient but rigid; FMS is adaptive.</a:t>
            </a:r>
            <a:endParaRPr lang="en-US" sz="1300" dirty="0"/>
          </a:p>
        </p:txBody>
      </p:sp>
      <p:sp>
        <p:nvSpPr>
          <p:cNvPr id="4" name="Shape 2"/>
          <p:cNvSpPr/>
          <p:nvPr/>
        </p:nvSpPr>
        <p:spPr>
          <a:xfrm>
            <a:off x="548640" y="1078992"/>
            <a:ext cx="2623768" cy="0"/>
          </a:xfrm>
          <a:prstGeom prst="line">
            <a:avLst/>
          </a:prstGeom>
          <a:noFill/>
          <a:ln w="38100">
            <a:solidFill>
              <a:srgbClr val="0B78D0"/>
            </a:solidFill>
            <a:prstDash val="solid"/>
          </a:ln>
        </p:spPr>
        <p:txBody>
          <a:bodyPr/>
          <a:lstStyle/>
          <a:p>
            <a:endParaRPr lang="en-US"/>
          </a:p>
        </p:txBody>
      </p:sp>
      <p:sp>
        <p:nvSpPr>
          <p:cNvPr id="5" name="Shape 3"/>
          <p:cNvSpPr/>
          <p:nvPr/>
        </p:nvSpPr>
        <p:spPr>
          <a:xfrm>
            <a:off x="589788" y="1371600"/>
            <a:ext cx="10927080" cy="3794760"/>
          </a:xfrm>
          <a:prstGeom prst="roundRect">
            <a:avLst>
              <a:gd name="adj" fmla="val 1928"/>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6" name="Shape 4"/>
          <p:cNvSpPr/>
          <p:nvPr/>
        </p:nvSpPr>
        <p:spPr>
          <a:xfrm>
            <a:off x="868680" y="1600200"/>
            <a:ext cx="1508760" cy="384048"/>
          </a:xfrm>
          <a:prstGeom prst="rect">
            <a:avLst/>
          </a:prstGeom>
          <a:solidFill>
            <a:srgbClr val="0F2447"/>
          </a:solidFill>
          <a:ln w="12700">
            <a:solidFill>
              <a:srgbClr val="CFE0F2"/>
            </a:solidFill>
            <a:prstDash val="solid"/>
          </a:ln>
        </p:spPr>
        <p:txBody>
          <a:bodyPr/>
          <a:lstStyle/>
          <a:p>
            <a:endParaRPr lang="en-US"/>
          </a:p>
        </p:txBody>
      </p:sp>
      <p:sp>
        <p:nvSpPr>
          <p:cNvPr id="7" name="Text 5"/>
          <p:cNvSpPr/>
          <p:nvPr/>
        </p:nvSpPr>
        <p:spPr>
          <a:xfrm>
            <a:off x="941832" y="1673352"/>
            <a:ext cx="1362456" cy="274320"/>
          </a:xfrm>
          <a:prstGeom prst="rect">
            <a:avLst/>
          </a:prstGeom>
          <a:noFill/>
          <a:ln/>
        </p:spPr>
        <p:txBody>
          <a:bodyPr wrap="square" lIns="0" tIns="0" rIns="0" bIns="0" rtlCol="0" anchor="ctr">
            <a:normAutofit/>
          </a:bodyPr>
          <a:lstStyle/>
          <a:p>
            <a:pPr marL="0" indent="0">
              <a:buNone/>
            </a:pPr>
            <a:r>
              <a:rPr lang="en-US" sz="1200" b="1" dirty="0">
                <a:solidFill>
                  <a:srgbClr val="FFFFFF"/>
                </a:solidFill>
              </a:rPr>
              <a:t>Feature</a:t>
            </a:r>
            <a:endParaRPr lang="en-US" sz="1200" dirty="0"/>
          </a:p>
        </p:txBody>
      </p:sp>
      <p:sp>
        <p:nvSpPr>
          <p:cNvPr id="8" name="Shape 6"/>
          <p:cNvSpPr/>
          <p:nvPr/>
        </p:nvSpPr>
        <p:spPr>
          <a:xfrm>
            <a:off x="2377440" y="1600200"/>
            <a:ext cx="4297680" cy="384048"/>
          </a:xfrm>
          <a:prstGeom prst="rect">
            <a:avLst/>
          </a:prstGeom>
          <a:solidFill>
            <a:srgbClr val="0F2447"/>
          </a:solidFill>
          <a:ln w="12700">
            <a:solidFill>
              <a:srgbClr val="CFE0F2"/>
            </a:solidFill>
            <a:prstDash val="solid"/>
          </a:ln>
        </p:spPr>
        <p:txBody>
          <a:bodyPr/>
          <a:lstStyle/>
          <a:p>
            <a:endParaRPr lang="en-US"/>
          </a:p>
        </p:txBody>
      </p:sp>
      <p:sp>
        <p:nvSpPr>
          <p:cNvPr id="9" name="Text 7"/>
          <p:cNvSpPr/>
          <p:nvPr/>
        </p:nvSpPr>
        <p:spPr>
          <a:xfrm>
            <a:off x="2450592" y="1673352"/>
            <a:ext cx="4151376" cy="274320"/>
          </a:xfrm>
          <a:prstGeom prst="rect">
            <a:avLst/>
          </a:prstGeom>
          <a:noFill/>
          <a:ln/>
        </p:spPr>
        <p:txBody>
          <a:bodyPr wrap="square" lIns="0" tIns="0" rIns="0" bIns="0" rtlCol="0" anchor="ctr">
            <a:normAutofit/>
          </a:bodyPr>
          <a:lstStyle/>
          <a:p>
            <a:pPr marL="0" indent="0">
              <a:buNone/>
            </a:pPr>
            <a:r>
              <a:rPr lang="en-US" sz="1200" b="1" dirty="0">
                <a:solidFill>
                  <a:srgbClr val="FFFFFF"/>
                </a:solidFill>
              </a:rPr>
              <a:t>Traditional Mass Production</a:t>
            </a:r>
            <a:endParaRPr lang="en-US" sz="1200" dirty="0"/>
          </a:p>
        </p:txBody>
      </p:sp>
      <p:sp>
        <p:nvSpPr>
          <p:cNvPr id="10" name="Shape 8"/>
          <p:cNvSpPr/>
          <p:nvPr/>
        </p:nvSpPr>
        <p:spPr>
          <a:xfrm>
            <a:off x="6675120" y="1600200"/>
            <a:ext cx="4663440" cy="384048"/>
          </a:xfrm>
          <a:prstGeom prst="rect">
            <a:avLst/>
          </a:prstGeom>
          <a:solidFill>
            <a:srgbClr val="0F2447"/>
          </a:solidFill>
          <a:ln w="12700">
            <a:solidFill>
              <a:srgbClr val="CFE0F2"/>
            </a:solidFill>
            <a:prstDash val="solid"/>
          </a:ln>
        </p:spPr>
        <p:txBody>
          <a:bodyPr/>
          <a:lstStyle/>
          <a:p>
            <a:endParaRPr lang="en-US"/>
          </a:p>
        </p:txBody>
      </p:sp>
      <p:sp>
        <p:nvSpPr>
          <p:cNvPr id="11" name="Text 9"/>
          <p:cNvSpPr/>
          <p:nvPr/>
        </p:nvSpPr>
        <p:spPr>
          <a:xfrm>
            <a:off x="6748272" y="1673352"/>
            <a:ext cx="4517136" cy="274320"/>
          </a:xfrm>
          <a:prstGeom prst="rect">
            <a:avLst/>
          </a:prstGeom>
          <a:noFill/>
          <a:ln/>
        </p:spPr>
        <p:txBody>
          <a:bodyPr wrap="square" lIns="0" tIns="0" rIns="0" bIns="0" rtlCol="0" anchor="ctr">
            <a:normAutofit/>
          </a:bodyPr>
          <a:lstStyle/>
          <a:p>
            <a:pPr marL="0" indent="0">
              <a:buNone/>
            </a:pPr>
            <a:r>
              <a:rPr lang="en-US" sz="1200" b="1" dirty="0">
                <a:solidFill>
                  <a:srgbClr val="FFFFFF"/>
                </a:solidFill>
              </a:rPr>
              <a:t>Flexible Manufacturing (FMS)</a:t>
            </a:r>
            <a:endParaRPr lang="en-US" sz="1200" dirty="0"/>
          </a:p>
        </p:txBody>
      </p:sp>
      <p:sp>
        <p:nvSpPr>
          <p:cNvPr id="12" name="Shape 10"/>
          <p:cNvSpPr/>
          <p:nvPr/>
        </p:nvSpPr>
        <p:spPr>
          <a:xfrm>
            <a:off x="868680" y="1984248"/>
            <a:ext cx="1508760" cy="530352"/>
          </a:xfrm>
          <a:prstGeom prst="rect">
            <a:avLst/>
          </a:prstGeom>
          <a:solidFill>
            <a:srgbClr val="FFFFFF"/>
          </a:solidFill>
          <a:ln w="12700">
            <a:solidFill>
              <a:srgbClr val="CFE0F2"/>
            </a:solidFill>
            <a:prstDash val="solid"/>
          </a:ln>
        </p:spPr>
        <p:txBody>
          <a:bodyPr/>
          <a:lstStyle/>
          <a:p>
            <a:endParaRPr lang="en-US"/>
          </a:p>
        </p:txBody>
      </p:sp>
      <p:sp>
        <p:nvSpPr>
          <p:cNvPr id="13" name="Text 11"/>
          <p:cNvSpPr/>
          <p:nvPr/>
        </p:nvSpPr>
        <p:spPr>
          <a:xfrm>
            <a:off x="941832" y="2057400"/>
            <a:ext cx="1362456" cy="420624"/>
          </a:xfrm>
          <a:prstGeom prst="rect">
            <a:avLst/>
          </a:prstGeom>
          <a:noFill/>
          <a:ln/>
        </p:spPr>
        <p:txBody>
          <a:bodyPr wrap="square" lIns="0" tIns="0" rIns="0" bIns="0" rtlCol="0" anchor="ctr">
            <a:normAutofit/>
          </a:bodyPr>
          <a:lstStyle/>
          <a:p>
            <a:pPr marL="0" indent="0">
              <a:buNone/>
            </a:pPr>
            <a:r>
              <a:rPr lang="en-US" sz="1300" dirty="0">
                <a:solidFill>
                  <a:srgbClr val="1E293B"/>
                </a:solidFill>
              </a:rPr>
              <a:t>Goal</a:t>
            </a:r>
            <a:endParaRPr lang="en-US" sz="1300" dirty="0"/>
          </a:p>
        </p:txBody>
      </p:sp>
      <p:sp>
        <p:nvSpPr>
          <p:cNvPr id="14" name="Shape 12"/>
          <p:cNvSpPr/>
          <p:nvPr/>
        </p:nvSpPr>
        <p:spPr>
          <a:xfrm>
            <a:off x="2377440" y="1984248"/>
            <a:ext cx="4297680" cy="530352"/>
          </a:xfrm>
          <a:prstGeom prst="rect">
            <a:avLst/>
          </a:prstGeom>
          <a:solidFill>
            <a:srgbClr val="FFFFFF"/>
          </a:solidFill>
          <a:ln w="12700">
            <a:solidFill>
              <a:srgbClr val="CFE0F2"/>
            </a:solidFill>
            <a:prstDash val="solid"/>
          </a:ln>
        </p:spPr>
        <p:txBody>
          <a:bodyPr/>
          <a:lstStyle/>
          <a:p>
            <a:endParaRPr lang="en-US"/>
          </a:p>
        </p:txBody>
      </p:sp>
      <p:sp>
        <p:nvSpPr>
          <p:cNvPr id="15" name="Text 13"/>
          <p:cNvSpPr/>
          <p:nvPr/>
        </p:nvSpPr>
        <p:spPr>
          <a:xfrm>
            <a:off x="2450592" y="2057400"/>
            <a:ext cx="4151376" cy="420624"/>
          </a:xfrm>
          <a:prstGeom prst="rect">
            <a:avLst/>
          </a:prstGeom>
          <a:noFill/>
          <a:ln/>
        </p:spPr>
        <p:txBody>
          <a:bodyPr wrap="square" lIns="0" tIns="0" rIns="0" bIns="0" rtlCol="0" anchor="ctr">
            <a:normAutofit/>
          </a:bodyPr>
          <a:lstStyle/>
          <a:p>
            <a:pPr marL="0" indent="0">
              <a:buNone/>
            </a:pPr>
            <a:r>
              <a:rPr lang="en-US" sz="1300" dirty="0">
                <a:solidFill>
                  <a:srgbClr val="1E293B"/>
                </a:solidFill>
              </a:rPr>
              <a:t>High volume, lowest cost per unit.</a:t>
            </a:r>
            <a:endParaRPr lang="en-US" sz="1300" dirty="0"/>
          </a:p>
        </p:txBody>
      </p:sp>
      <p:sp>
        <p:nvSpPr>
          <p:cNvPr id="16" name="Shape 14"/>
          <p:cNvSpPr/>
          <p:nvPr/>
        </p:nvSpPr>
        <p:spPr>
          <a:xfrm>
            <a:off x="6675120" y="1984248"/>
            <a:ext cx="4663440" cy="530352"/>
          </a:xfrm>
          <a:prstGeom prst="rect">
            <a:avLst/>
          </a:prstGeom>
          <a:solidFill>
            <a:srgbClr val="FFFFFF"/>
          </a:solidFill>
          <a:ln w="12700">
            <a:solidFill>
              <a:srgbClr val="CFE0F2"/>
            </a:solidFill>
            <a:prstDash val="solid"/>
          </a:ln>
        </p:spPr>
        <p:txBody>
          <a:bodyPr/>
          <a:lstStyle/>
          <a:p>
            <a:endParaRPr lang="en-US"/>
          </a:p>
        </p:txBody>
      </p:sp>
      <p:sp>
        <p:nvSpPr>
          <p:cNvPr id="17" name="Text 15"/>
          <p:cNvSpPr/>
          <p:nvPr/>
        </p:nvSpPr>
        <p:spPr>
          <a:xfrm>
            <a:off x="6748272" y="2057400"/>
            <a:ext cx="4517136" cy="420624"/>
          </a:xfrm>
          <a:prstGeom prst="rect">
            <a:avLst/>
          </a:prstGeom>
          <a:noFill/>
          <a:ln/>
        </p:spPr>
        <p:txBody>
          <a:bodyPr wrap="square" lIns="0" tIns="0" rIns="0" bIns="0" rtlCol="0" anchor="ctr">
            <a:normAutofit/>
          </a:bodyPr>
          <a:lstStyle/>
          <a:p>
            <a:pPr marL="0" indent="0">
              <a:buNone/>
            </a:pPr>
            <a:r>
              <a:rPr lang="en-US" sz="1300" dirty="0">
                <a:solidFill>
                  <a:srgbClr val="1E293B"/>
                </a:solidFill>
              </a:rPr>
              <a:t>Mass customization and variety.</a:t>
            </a:r>
            <a:endParaRPr lang="en-US" sz="1300" dirty="0"/>
          </a:p>
        </p:txBody>
      </p:sp>
      <p:sp>
        <p:nvSpPr>
          <p:cNvPr id="18" name="Shape 16"/>
          <p:cNvSpPr/>
          <p:nvPr/>
        </p:nvSpPr>
        <p:spPr>
          <a:xfrm>
            <a:off x="868680" y="2514600"/>
            <a:ext cx="1508760" cy="713232"/>
          </a:xfrm>
          <a:prstGeom prst="rect">
            <a:avLst/>
          </a:prstGeom>
          <a:solidFill>
            <a:srgbClr val="F8FBFF"/>
          </a:solidFill>
          <a:ln w="12700">
            <a:solidFill>
              <a:srgbClr val="CFE0F2"/>
            </a:solidFill>
            <a:prstDash val="solid"/>
          </a:ln>
        </p:spPr>
        <p:txBody>
          <a:bodyPr/>
          <a:lstStyle/>
          <a:p>
            <a:endParaRPr lang="en-US"/>
          </a:p>
        </p:txBody>
      </p:sp>
      <p:sp>
        <p:nvSpPr>
          <p:cNvPr id="19" name="Text 17"/>
          <p:cNvSpPr/>
          <p:nvPr/>
        </p:nvSpPr>
        <p:spPr>
          <a:xfrm>
            <a:off x="941832" y="2587752"/>
            <a:ext cx="1362456" cy="603504"/>
          </a:xfrm>
          <a:prstGeom prst="rect">
            <a:avLst/>
          </a:prstGeom>
          <a:noFill/>
          <a:ln/>
        </p:spPr>
        <p:txBody>
          <a:bodyPr wrap="square" lIns="0" tIns="0" rIns="0" bIns="0" rtlCol="0" anchor="ctr">
            <a:normAutofit/>
          </a:bodyPr>
          <a:lstStyle/>
          <a:p>
            <a:pPr marL="0" indent="0">
              <a:buNone/>
            </a:pPr>
            <a:r>
              <a:rPr lang="en-US" sz="1300" dirty="0">
                <a:solidFill>
                  <a:srgbClr val="1E293B"/>
                </a:solidFill>
              </a:rPr>
              <a:t>Changeover</a:t>
            </a:r>
            <a:endParaRPr lang="en-US" sz="1300" dirty="0"/>
          </a:p>
        </p:txBody>
      </p:sp>
      <p:sp>
        <p:nvSpPr>
          <p:cNvPr id="20" name="Shape 18"/>
          <p:cNvSpPr/>
          <p:nvPr/>
        </p:nvSpPr>
        <p:spPr>
          <a:xfrm>
            <a:off x="2377440" y="2514600"/>
            <a:ext cx="4297680" cy="713232"/>
          </a:xfrm>
          <a:prstGeom prst="rect">
            <a:avLst/>
          </a:prstGeom>
          <a:solidFill>
            <a:srgbClr val="F8FBFF"/>
          </a:solidFill>
          <a:ln w="12700">
            <a:solidFill>
              <a:srgbClr val="CFE0F2"/>
            </a:solidFill>
            <a:prstDash val="solid"/>
          </a:ln>
        </p:spPr>
        <p:txBody>
          <a:bodyPr/>
          <a:lstStyle/>
          <a:p>
            <a:endParaRPr lang="en-US"/>
          </a:p>
        </p:txBody>
      </p:sp>
      <p:sp>
        <p:nvSpPr>
          <p:cNvPr id="21" name="Text 19"/>
          <p:cNvSpPr/>
          <p:nvPr/>
        </p:nvSpPr>
        <p:spPr>
          <a:xfrm>
            <a:off x="2450592" y="2587752"/>
            <a:ext cx="4151376" cy="603504"/>
          </a:xfrm>
          <a:prstGeom prst="rect">
            <a:avLst/>
          </a:prstGeom>
          <a:noFill/>
          <a:ln/>
        </p:spPr>
        <p:txBody>
          <a:bodyPr wrap="square" lIns="0" tIns="0" rIns="0" bIns="0" rtlCol="0" anchor="ctr">
            <a:normAutofit/>
          </a:bodyPr>
          <a:lstStyle/>
          <a:p>
            <a:pPr marL="0" indent="0">
              <a:buNone/>
            </a:pPr>
            <a:r>
              <a:rPr lang="en-US" sz="1300" dirty="0">
                <a:solidFill>
                  <a:srgbClr val="1E293B"/>
                </a:solidFill>
              </a:rPr>
              <a:t>Slow and expensive</a:t>
            </a:r>
            <a:endParaRPr lang="en-US" sz="1300" dirty="0"/>
          </a:p>
          <a:p>
            <a:pPr marL="0" indent="0">
              <a:buNone/>
            </a:pPr>
            <a:r>
              <a:rPr lang="en-US" sz="1300" dirty="0">
                <a:solidFill>
                  <a:srgbClr val="1E293B"/>
                </a:solidFill>
              </a:rPr>
              <a:t>(manual setup).</a:t>
            </a:r>
            <a:endParaRPr lang="en-US" sz="1300" dirty="0"/>
          </a:p>
        </p:txBody>
      </p:sp>
      <p:sp>
        <p:nvSpPr>
          <p:cNvPr id="22" name="Shape 20"/>
          <p:cNvSpPr/>
          <p:nvPr/>
        </p:nvSpPr>
        <p:spPr>
          <a:xfrm>
            <a:off x="6675120" y="2514600"/>
            <a:ext cx="4663440" cy="713232"/>
          </a:xfrm>
          <a:prstGeom prst="rect">
            <a:avLst/>
          </a:prstGeom>
          <a:solidFill>
            <a:srgbClr val="F8FBFF"/>
          </a:solidFill>
          <a:ln w="12700">
            <a:solidFill>
              <a:srgbClr val="CFE0F2"/>
            </a:solidFill>
            <a:prstDash val="solid"/>
          </a:ln>
        </p:spPr>
        <p:txBody>
          <a:bodyPr/>
          <a:lstStyle/>
          <a:p>
            <a:endParaRPr lang="en-US"/>
          </a:p>
        </p:txBody>
      </p:sp>
      <p:sp>
        <p:nvSpPr>
          <p:cNvPr id="23" name="Text 21"/>
          <p:cNvSpPr/>
          <p:nvPr/>
        </p:nvSpPr>
        <p:spPr>
          <a:xfrm>
            <a:off x="6748272" y="2587752"/>
            <a:ext cx="4517136" cy="603504"/>
          </a:xfrm>
          <a:prstGeom prst="rect">
            <a:avLst/>
          </a:prstGeom>
          <a:noFill/>
          <a:ln/>
        </p:spPr>
        <p:txBody>
          <a:bodyPr wrap="square" lIns="0" tIns="0" rIns="0" bIns="0" rtlCol="0" anchor="ctr">
            <a:normAutofit/>
          </a:bodyPr>
          <a:lstStyle/>
          <a:p>
            <a:pPr marL="0" indent="0">
              <a:buNone/>
            </a:pPr>
            <a:r>
              <a:rPr lang="en-US" sz="1300" dirty="0">
                <a:solidFill>
                  <a:srgbClr val="1E293B"/>
                </a:solidFill>
              </a:rPr>
              <a:t>Fast and automated</a:t>
            </a:r>
            <a:endParaRPr lang="en-US" sz="1300" dirty="0"/>
          </a:p>
          <a:p>
            <a:pPr marL="0" indent="0">
              <a:buNone/>
            </a:pPr>
            <a:r>
              <a:rPr lang="en-US" sz="1300" dirty="0">
                <a:solidFill>
                  <a:srgbClr val="1E293B"/>
                </a:solidFill>
              </a:rPr>
              <a:t>(software-driven).</a:t>
            </a:r>
            <a:endParaRPr lang="en-US" sz="1300" dirty="0"/>
          </a:p>
        </p:txBody>
      </p:sp>
      <p:sp>
        <p:nvSpPr>
          <p:cNvPr id="24" name="Shape 22"/>
          <p:cNvSpPr/>
          <p:nvPr/>
        </p:nvSpPr>
        <p:spPr>
          <a:xfrm>
            <a:off x="868680" y="3227832"/>
            <a:ext cx="1508760" cy="713232"/>
          </a:xfrm>
          <a:prstGeom prst="rect">
            <a:avLst/>
          </a:prstGeom>
          <a:solidFill>
            <a:srgbClr val="FFFFFF"/>
          </a:solidFill>
          <a:ln w="12700">
            <a:solidFill>
              <a:srgbClr val="CFE0F2"/>
            </a:solidFill>
            <a:prstDash val="solid"/>
          </a:ln>
        </p:spPr>
        <p:txBody>
          <a:bodyPr/>
          <a:lstStyle/>
          <a:p>
            <a:endParaRPr lang="en-US"/>
          </a:p>
        </p:txBody>
      </p:sp>
      <p:sp>
        <p:nvSpPr>
          <p:cNvPr id="25" name="Text 23"/>
          <p:cNvSpPr/>
          <p:nvPr/>
        </p:nvSpPr>
        <p:spPr>
          <a:xfrm>
            <a:off x="941832" y="3300984"/>
            <a:ext cx="1362456" cy="603504"/>
          </a:xfrm>
          <a:prstGeom prst="rect">
            <a:avLst/>
          </a:prstGeom>
          <a:noFill/>
          <a:ln/>
        </p:spPr>
        <p:txBody>
          <a:bodyPr wrap="square" lIns="0" tIns="0" rIns="0" bIns="0" rtlCol="0" anchor="ctr">
            <a:normAutofit/>
          </a:bodyPr>
          <a:lstStyle/>
          <a:p>
            <a:pPr marL="0" indent="0">
              <a:buNone/>
            </a:pPr>
            <a:r>
              <a:rPr lang="en-US" sz="1300" dirty="0">
                <a:solidFill>
                  <a:srgbClr val="1E293B"/>
                </a:solidFill>
              </a:rPr>
              <a:t>Life Cycle</a:t>
            </a:r>
            <a:endParaRPr lang="en-US" sz="1300" dirty="0"/>
          </a:p>
        </p:txBody>
      </p:sp>
      <p:sp>
        <p:nvSpPr>
          <p:cNvPr id="26" name="Shape 24"/>
          <p:cNvSpPr/>
          <p:nvPr/>
        </p:nvSpPr>
        <p:spPr>
          <a:xfrm>
            <a:off x="2377440" y="3227832"/>
            <a:ext cx="4297680" cy="713232"/>
          </a:xfrm>
          <a:prstGeom prst="rect">
            <a:avLst/>
          </a:prstGeom>
          <a:solidFill>
            <a:srgbClr val="FFFFFF"/>
          </a:solidFill>
          <a:ln w="12700">
            <a:solidFill>
              <a:srgbClr val="CFE0F2"/>
            </a:solidFill>
            <a:prstDash val="solid"/>
          </a:ln>
        </p:spPr>
        <p:txBody>
          <a:bodyPr/>
          <a:lstStyle/>
          <a:p>
            <a:endParaRPr lang="en-US"/>
          </a:p>
        </p:txBody>
      </p:sp>
      <p:sp>
        <p:nvSpPr>
          <p:cNvPr id="27" name="Text 25"/>
          <p:cNvSpPr/>
          <p:nvPr/>
        </p:nvSpPr>
        <p:spPr>
          <a:xfrm>
            <a:off x="2450592" y="3300984"/>
            <a:ext cx="4151376" cy="603504"/>
          </a:xfrm>
          <a:prstGeom prst="rect">
            <a:avLst/>
          </a:prstGeom>
          <a:noFill/>
          <a:ln/>
        </p:spPr>
        <p:txBody>
          <a:bodyPr wrap="square" lIns="0" tIns="0" rIns="0" bIns="0" rtlCol="0" anchor="ctr">
            <a:normAutofit/>
          </a:bodyPr>
          <a:lstStyle/>
          <a:p>
            <a:pPr marL="0" indent="0">
              <a:buNone/>
            </a:pPr>
            <a:r>
              <a:rPr lang="en-US" sz="1300" dirty="0">
                <a:solidFill>
                  <a:srgbClr val="1E293B"/>
                </a:solidFill>
              </a:rPr>
              <a:t>Best for products that stay</a:t>
            </a:r>
            <a:endParaRPr lang="en-US" sz="1300" dirty="0"/>
          </a:p>
          <a:p>
            <a:pPr marL="0" indent="0">
              <a:buNone/>
            </a:pPr>
            <a:r>
              <a:rPr lang="en-US" sz="1300" dirty="0">
                <a:solidFill>
                  <a:srgbClr val="1E293B"/>
                </a:solidFill>
              </a:rPr>
              <a:t>the same for years.</a:t>
            </a:r>
            <a:endParaRPr lang="en-US" sz="1300" dirty="0"/>
          </a:p>
        </p:txBody>
      </p:sp>
      <p:sp>
        <p:nvSpPr>
          <p:cNvPr id="28" name="Shape 26"/>
          <p:cNvSpPr/>
          <p:nvPr/>
        </p:nvSpPr>
        <p:spPr>
          <a:xfrm>
            <a:off x="6675120" y="3227832"/>
            <a:ext cx="4663440" cy="713232"/>
          </a:xfrm>
          <a:prstGeom prst="rect">
            <a:avLst/>
          </a:prstGeom>
          <a:solidFill>
            <a:srgbClr val="FFFFFF"/>
          </a:solidFill>
          <a:ln w="12700">
            <a:solidFill>
              <a:srgbClr val="CFE0F2"/>
            </a:solidFill>
            <a:prstDash val="solid"/>
          </a:ln>
        </p:spPr>
        <p:txBody>
          <a:bodyPr/>
          <a:lstStyle/>
          <a:p>
            <a:endParaRPr lang="en-US"/>
          </a:p>
        </p:txBody>
      </p:sp>
      <p:sp>
        <p:nvSpPr>
          <p:cNvPr id="29" name="Text 27"/>
          <p:cNvSpPr/>
          <p:nvPr/>
        </p:nvSpPr>
        <p:spPr>
          <a:xfrm>
            <a:off x="6748272" y="3300984"/>
            <a:ext cx="4517136" cy="603504"/>
          </a:xfrm>
          <a:prstGeom prst="rect">
            <a:avLst/>
          </a:prstGeom>
          <a:noFill/>
          <a:ln/>
        </p:spPr>
        <p:txBody>
          <a:bodyPr wrap="square" lIns="0" tIns="0" rIns="0" bIns="0" rtlCol="0" anchor="ctr">
            <a:normAutofit/>
          </a:bodyPr>
          <a:lstStyle/>
          <a:p>
            <a:pPr marL="0" indent="0">
              <a:buNone/>
            </a:pPr>
            <a:r>
              <a:rPr lang="en-US" sz="1300" dirty="0">
                <a:solidFill>
                  <a:srgbClr val="1E293B"/>
                </a:solidFill>
              </a:rPr>
              <a:t>Best for products that</a:t>
            </a:r>
            <a:endParaRPr lang="en-US" sz="1300" dirty="0"/>
          </a:p>
          <a:p>
            <a:pPr marL="0" indent="0">
              <a:buNone/>
            </a:pPr>
            <a:r>
              <a:rPr lang="en-US" sz="1300" dirty="0">
                <a:solidFill>
                  <a:srgbClr val="1E293B"/>
                </a:solidFill>
              </a:rPr>
              <a:t>change frequently.</a:t>
            </a:r>
            <a:endParaRPr lang="en-US" sz="1300" dirty="0"/>
          </a:p>
        </p:txBody>
      </p:sp>
      <p:sp>
        <p:nvSpPr>
          <p:cNvPr id="30" name="Shape 28"/>
          <p:cNvSpPr/>
          <p:nvPr/>
        </p:nvSpPr>
        <p:spPr>
          <a:xfrm>
            <a:off x="868680" y="3941064"/>
            <a:ext cx="1508760" cy="621792"/>
          </a:xfrm>
          <a:prstGeom prst="rect">
            <a:avLst/>
          </a:prstGeom>
          <a:solidFill>
            <a:srgbClr val="F8FBFF"/>
          </a:solidFill>
          <a:ln w="12700">
            <a:solidFill>
              <a:srgbClr val="CFE0F2"/>
            </a:solidFill>
            <a:prstDash val="solid"/>
          </a:ln>
        </p:spPr>
        <p:txBody>
          <a:bodyPr/>
          <a:lstStyle/>
          <a:p>
            <a:endParaRPr lang="en-US"/>
          </a:p>
        </p:txBody>
      </p:sp>
      <p:sp>
        <p:nvSpPr>
          <p:cNvPr id="31" name="Text 29"/>
          <p:cNvSpPr/>
          <p:nvPr/>
        </p:nvSpPr>
        <p:spPr>
          <a:xfrm>
            <a:off x="941832" y="4014216"/>
            <a:ext cx="1362456" cy="512064"/>
          </a:xfrm>
          <a:prstGeom prst="rect">
            <a:avLst/>
          </a:prstGeom>
          <a:noFill/>
          <a:ln/>
        </p:spPr>
        <p:txBody>
          <a:bodyPr wrap="square" lIns="0" tIns="0" rIns="0" bIns="0" rtlCol="0" anchor="ctr">
            <a:normAutofit/>
          </a:bodyPr>
          <a:lstStyle/>
          <a:p>
            <a:pPr marL="0" indent="0">
              <a:buNone/>
            </a:pPr>
            <a:r>
              <a:rPr lang="en-US" sz="1300" dirty="0">
                <a:solidFill>
                  <a:srgbClr val="1E293B"/>
                </a:solidFill>
              </a:rPr>
              <a:t>Risk</a:t>
            </a:r>
            <a:endParaRPr lang="en-US" sz="1300" dirty="0"/>
          </a:p>
        </p:txBody>
      </p:sp>
      <p:sp>
        <p:nvSpPr>
          <p:cNvPr id="32" name="Shape 30"/>
          <p:cNvSpPr/>
          <p:nvPr/>
        </p:nvSpPr>
        <p:spPr>
          <a:xfrm>
            <a:off x="2377440" y="3941064"/>
            <a:ext cx="4297680" cy="621792"/>
          </a:xfrm>
          <a:prstGeom prst="rect">
            <a:avLst/>
          </a:prstGeom>
          <a:solidFill>
            <a:srgbClr val="F8FBFF"/>
          </a:solidFill>
          <a:ln w="12700">
            <a:solidFill>
              <a:srgbClr val="CFE0F2"/>
            </a:solidFill>
            <a:prstDash val="solid"/>
          </a:ln>
        </p:spPr>
        <p:txBody>
          <a:bodyPr/>
          <a:lstStyle/>
          <a:p>
            <a:endParaRPr lang="en-US"/>
          </a:p>
        </p:txBody>
      </p:sp>
      <p:sp>
        <p:nvSpPr>
          <p:cNvPr id="33" name="Text 31"/>
          <p:cNvSpPr/>
          <p:nvPr/>
        </p:nvSpPr>
        <p:spPr>
          <a:xfrm>
            <a:off x="2450592" y="4014216"/>
            <a:ext cx="4151376" cy="512064"/>
          </a:xfrm>
          <a:prstGeom prst="rect">
            <a:avLst/>
          </a:prstGeom>
          <a:noFill/>
          <a:ln/>
        </p:spPr>
        <p:txBody>
          <a:bodyPr wrap="square" lIns="0" tIns="0" rIns="0" bIns="0" rtlCol="0" anchor="ctr">
            <a:normAutofit/>
          </a:bodyPr>
          <a:lstStyle/>
          <a:p>
            <a:pPr marL="0" indent="0">
              <a:buNone/>
            </a:pPr>
            <a:r>
              <a:rPr lang="en-US" sz="1300" dirty="0">
                <a:solidFill>
                  <a:srgbClr val="1E293B"/>
                </a:solidFill>
              </a:rPr>
              <a:t>High risk if the market</a:t>
            </a:r>
            <a:endParaRPr lang="en-US" sz="1300" dirty="0"/>
          </a:p>
          <a:p>
            <a:pPr marL="0" indent="0">
              <a:buNone/>
            </a:pPr>
            <a:r>
              <a:rPr lang="en-US" sz="1300" dirty="0">
                <a:solidFill>
                  <a:srgbClr val="1E293B"/>
                </a:solidFill>
              </a:rPr>
              <a:t>trend shifts.</a:t>
            </a:r>
            <a:endParaRPr lang="en-US" sz="1300" dirty="0"/>
          </a:p>
        </p:txBody>
      </p:sp>
      <p:sp>
        <p:nvSpPr>
          <p:cNvPr id="34" name="Shape 32"/>
          <p:cNvSpPr/>
          <p:nvPr/>
        </p:nvSpPr>
        <p:spPr>
          <a:xfrm>
            <a:off x="6675120" y="3941064"/>
            <a:ext cx="4663440" cy="621792"/>
          </a:xfrm>
          <a:prstGeom prst="rect">
            <a:avLst/>
          </a:prstGeom>
          <a:solidFill>
            <a:srgbClr val="F8FBFF"/>
          </a:solidFill>
          <a:ln w="12700">
            <a:solidFill>
              <a:srgbClr val="CFE0F2"/>
            </a:solidFill>
            <a:prstDash val="solid"/>
          </a:ln>
        </p:spPr>
        <p:txBody>
          <a:bodyPr/>
          <a:lstStyle/>
          <a:p>
            <a:endParaRPr lang="en-US"/>
          </a:p>
        </p:txBody>
      </p:sp>
      <p:sp>
        <p:nvSpPr>
          <p:cNvPr id="35" name="Text 33"/>
          <p:cNvSpPr/>
          <p:nvPr/>
        </p:nvSpPr>
        <p:spPr>
          <a:xfrm>
            <a:off x="6748272" y="4014216"/>
            <a:ext cx="4517136" cy="512064"/>
          </a:xfrm>
          <a:prstGeom prst="rect">
            <a:avLst/>
          </a:prstGeom>
          <a:noFill/>
          <a:ln/>
        </p:spPr>
        <p:txBody>
          <a:bodyPr wrap="square" lIns="0" tIns="0" rIns="0" bIns="0" rtlCol="0" anchor="ctr">
            <a:normAutofit/>
          </a:bodyPr>
          <a:lstStyle/>
          <a:p>
            <a:pPr marL="0" indent="0">
              <a:buNone/>
            </a:pPr>
            <a:r>
              <a:rPr lang="en-US" sz="1300" dirty="0">
                <a:solidFill>
                  <a:srgbClr val="1E293B"/>
                </a:solidFill>
              </a:rPr>
              <a:t>Low risk; system adapts</a:t>
            </a:r>
            <a:endParaRPr lang="en-US" sz="1300" dirty="0"/>
          </a:p>
          <a:p>
            <a:pPr marL="0" indent="0">
              <a:buNone/>
            </a:pPr>
            <a:r>
              <a:rPr lang="en-US" sz="1300" dirty="0">
                <a:solidFill>
                  <a:srgbClr val="1E293B"/>
                </a:solidFill>
              </a:rPr>
              <a:t>to new trends.</a:t>
            </a:r>
            <a:endParaRPr lang="en-US" sz="1300" dirty="0"/>
          </a:p>
        </p:txBody>
      </p:sp>
      <p:sp>
        <p:nvSpPr>
          <p:cNvPr id="39"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Key Components: The Anatomy of FMS</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FMS is not one machine; it is three parts working as one.</a:t>
            </a:r>
            <a:endParaRPr lang="en-US" sz="1300" dirty="0"/>
          </a:p>
        </p:txBody>
      </p:sp>
      <p:sp>
        <p:nvSpPr>
          <p:cNvPr id="4" name="Shape 2"/>
          <p:cNvSpPr/>
          <p:nvPr/>
        </p:nvSpPr>
        <p:spPr>
          <a:xfrm>
            <a:off x="548640" y="1078992"/>
            <a:ext cx="1737360" cy="0"/>
          </a:xfrm>
          <a:prstGeom prst="line">
            <a:avLst/>
          </a:prstGeom>
          <a:noFill/>
          <a:ln w="38100">
            <a:solidFill>
              <a:srgbClr val="0B78D0"/>
            </a:solidFill>
            <a:prstDash val="solid"/>
          </a:ln>
        </p:spPr>
        <p:txBody>
          <a:bodyPr/>
          <a:lstStyle/>
          <a:p>
            <a:endParaRPr lang="en-US"/>
          </a:p>
        </p:txBody>
      </p:sp>
      <p:pic>
        <p:nvPicPr>
          <p:cNvPr id="5" name="Image 0" descr="/mnt/data/a_wide_high_detail_realistic_industrial_factory.png"/>
          <p:cNvPicPr>
            <a:picLocks noChangeAspect="1"/>
          </p:cNvPicPr>
          <p:nvPr/>
        </p:nvPicPr>
        <p:blipFill>
          <a:blip r:embed="rId3"/>
          <a:srcRect l="19539" r="19539"/>
          <a:stretch/>
        </p:blipFill>
        <p:spPr>
          <a:xfrm>
            <a:off x="594360" y="1280160"/>
            <a:ext cx="4800600" cy="4434840"/>
          </a:xfrm>
          <a:prstGeom prst="rect">
            <a:avLst/>
          </a:prstGeom>
        </p:spPr>
      </p:pic>
      <p:sp>
        <p:nvSpPr>
          <p:cNvPr id="6" name="Shape 3"/>
          <p:cNvSpPr/>
          <p:nvPr/>
        </p:nvSpPr>
        <p:spPr>
          <a:xfrm>
            <a:off x="5715000" y="1325880"/>
            <a:ext cx="5806440" cy="1143000"/>
          </a:xfrm>
          <a:prstGeom prst="roundRect">
            <a:avLst>
              <a:gd name="adj" fmla="val 6400"/>
            </a:avLst>
          </a:prstGeom>
          <a:solidFill>
            <a:srgbClr val="EAF4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5897880" y="1572768"/>
            <a:ext cx="384048" cy="384048"/>
          </a:xfrm>
          <a:prstGeom prst="rect">
            <a:avLst/>
          </a:prstGeom>
          <a:solidFill>
            <a:srgbClr val="0B78D0"/>
          </a:solidFill>
          <a:ln/>
        </p:spPr>
        <p:txBody>
          <a:bodyPr wrap="square" lIns="508" tIns="508" rIns="508" bIns="508" rtlCol="0" anchor="ctr"/>
          <a:lstStyle/>
          <a:p>
            <a:pPr marL="0" indent="0" algn="ctr">
              <a:buNone/>
            </a:pPr>
            <a:r>
              <a:rPr lang="en-US" sz="2000" b="1" dirty="0">
                <a:solidFill>
                  <a:srgbClr val="FFFFFF"/>
                </a:solidFill>
              </a:rPr>
              <a:t>A</a:t>
            </a:r>
            <a:endParaRPr lang="en-US" sz="2000" dirty="0"/>
          </a:p>
        </p:txBody>
      </p:sp>
      <p:sp>
        <p:nvSpPr>
          <p:cNvPr id="8" name="Text 5"/>
          <p:cNvSpPr/>
          <p:nvPr/>
        </p:nvSpPr>
        <p:spPr>
          <a:xfrm>
            <a:off x="6400800" y="1490472"/>
            <a:ext cx="4800600" cy="256032"/>
          </a:xfrm>
          <a:prstGeom prst="rect">
            <a:avLst/>
          </a:prstGeom>
          <a:noFill/>
          <a:ln/>
        </p:spPr>
        <p:txBody>
          <a:bodyPr wrap="square" lIns="0" tIns="0" rIns="0" bIns="0" rtlCol="0" anchor="ctr"/>
          <a:lstStyle/>
          <a:p>
            <a:pPr marL="0" indent="0">
              <a:buNone/>
            </a:pPr>
            <a:r>
              <a:rPr lang="en-US" sz="1700" b="1" dirty="0">
                <a:solidFill>
                  <a:srgbClr val="0F2447"/>
                </a:solidFill>
              </a:rPr>
              <a:t>The Processing Stations</a:t>
            </a:r>
            <a:endParaRPr lang="en-US" sz="1700" dirty="0"/>
          </a:p>
        </p:txBody>
      </p:sp>
      <p:sp>
        <p:nvSpPr>
          <p:cNvPr id="9" name="Text 6"/>
          <p:cNvSpPr/>
          <p:nvPr/>
        </p:nvSpPr>
        <p:spPr>
          <a:xfrm>
            <a:off x="6400800" y="1783080"/>
            <a:ext cx="4800600" cy="228600"/>
          </a:xfrm>
          <a:prstGeom prst="rect">
            <a:avLst/>
          </a:prstGeom>
          <a:noFill/>
          <a:ln/>
        </p:spPr>
        <p:txBody>
          <a:bodyPr wrap="square" lIns="0" tIns="0" rIns="0" bIns="0" rtlCol="0" anchor="ctr"/>
          <a:lstStyle/>
          <a:p>
            <a:pPr marL="0" indent="0">
              <a:buNone/>
            </a:pPr>
            <a:r>
              <a:rPr lang="en-US" sz="1300" i="1" dirty="0">
                <a:solidFill>
                  <a:srgbClr val="0B78D0"/>
                </a:solidFill>
              </a:rPr>
              <a:t>The “Muscles”</a:t>
            </a:r>
            <a:endParaRPr lang="en-US" sz="1300" dirty="0"/>
          </a:p>
        </p:txBody>
      </p:sp>
      <p:sp>
        <p:nvSpPr>
          <p:cNvPr id="10" name="Text 7"/>
          <p:cNvSpPr/>
          <p:nvPr/>
        </p:nvSpPr>
        <p:spPr>
          <a:xfrm>
            <a:off x="6400800" y="2039112"/>
            <a:ext cx="4754880" cy="292608"/>
          </a:xfrm>
          <a:prstGeom prst="rect">
            <a:avLst/>
          </a:prstGeom>
          <a:noFill/>
          <a:ln/>
        </p:spPr>
        <p:txBody>
          <a:bodyPr wrap="square" lIns="0" tIns="0" rIns="0" bIns="0" rtlCol="0" anchor="ctr">
            <a:normAutofit fontScale="92500" lnSpcReduction="20000"/>
          </a:bodyPr>
          <a:lstStyle/>
          <a:p>
            <a:pPr marL="0" indent="0">
              <a:buNone/>
            </a:pPr>
            <a:r>
              <a:rPr lang="en-US" sz="1230" dirty="0">
                <a:solidFill>
                  <a:srgbClr val="1E293B"/>
                </a:solidFill>
              </a:rPr>
              <a:t>CNC machines switch from drilling to milling to cutting by downloading a new instruction set.</a:t>
            </a:r>
            <a:endParaRPr lang="en-US" sz="1230" dirty="0"/>
          </a:p>
        </p:txBody>
      </p:sp>
      <p:sp>
        <p:nvSpPr>
          <p:cNvPr id="11" name="Shape 8"/>
          <p:cNvSpPr/>
          <p:nvPr/>
        </p:nvSpPr>
        <p:spPr>
          <a:xfrm>
            <a:off x="5715000" y="2788920"/>
            <a:ext cx="5806440" cy="1143000"/>
          </a:xfrm>
          <a:prstGeom prst="roundRect">
            <a:avLst>
              <a:gd name="adj" fmla="val 6400"/>
            </a:avLst>
          </a:prstGeom>
          <a:solidFill>
            <a:srgbClr val="F1F8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2" name="Text 9"/>
          <p:cNvSpPr/>
          <p:nvPr/>
        </p:nvSpPr>
        <p:spPr>
          <a:xfrm>
            <a:off x="5897880" y="3035808"/>
            <a:ext cx="384048" cy="384048"/>
          </a:xfrm>
          <a:prstGeom prst="rect">
            <a:avLst/>
          </a:prstGeom>
          <a:solidFill>
            <a:srgbClr val="0B78D0"/>
          </a:solidFill>
          <a:ln/>
        </p:spPr>
        <p:txBody>
          <a:bodyPr wrap="square" lIns="508" tIns="508" rIns="508" bIns="508" rtlCol="0" anchor="ctr"/>
          <a:lstStyle/>
          <a:p>
            <a:pPr marL="0" indent="0" algn="ctr">
              <a:buNone/>
            </a:pPr>
            <a:r>
              <a:rPr lang="en-US" sz="2000" b="1" dirty="0">
                <a:solidFill>
                  <a:srgbClr val="FFFFFF"/>
                </a:solidFill>
              </a:rPr>
              <a:t>B</a:t>
            </a:r>
            <a:endParaRPr lang="en-US" sz="2000" dirty="0"/>
          </a:p>
        </p:txBody>
      </p:sp>
      <p:sp>
        <p:nvSpPr>
          <p:cNvPr id="13" name="Text 10"/>
          <p:cNvSpPr/>
          <p:nvPr/>
        </p:nvSpPr>
        <p:spPr>
          <a:xfrm>
            <a:off x="6400800" y="2953512"/>
            <a:ext cx="4800600" cy="256032"/>
          </a:xfrm>
          <a:prstGeom prst="rect">
            <a:avLst/>
          </a:prstGeom>
          <a:noFill/>
          <a:ln/>
        </p:spPr>
        <p:txBody>
          <a:bodyPr wrap="square" lIns="0" tIns="0" rIns="0" bIns="0" rtlCol="0" anchor="ctr"/>
          <a:lstStyle/>
          <a:p>
            <a:pPr marL="0" indent="0">
              <a:buNone/>
            </a:pPr>
            <a:r>
              <a:rPr lang="en-US" sz="1700" b="1" dirty="0">
                <a:solidFill>
                  <a:srgbClr val="0F2447"/>
                </a:solidFill>
              </a:rPr>
              <a:t>Automated Material Handling</a:t>
            </a:r>
            <a:endParaRPr lang="en-US" sz="1700" dirty="0"/>
          </a:p>
        </p:txBody>
      </p:sp>
      <p:sp>
        <p:nvSpPr>
          <p:cNvPr id="14" name="Text 11"/>
          <p:cNvSpPr/>
          <p:nvPr/>
        </p:nvSpPr>
        <p:spPr>
          <a:xfrm>
            <a:off x="6400800" y="3246120"/>
            <a:ext cx="4800600" cy="228600"/>
          </a:xfrm>
          <a:prstGeom prst="rect">
            <a:avLst/>
          </a:prstGeom>
          <a:noFill/>
          <a:ln/>
        </p:spPr>
        <p:txBody>
          <a:bodyPr wrap="square" lIns="0" tIns="0" rIns="0" bIns="0" rtlCol="0" anchor="ctr"/>
          <a:lstStyle/>
          <a:p>
            <a:pPr marL="0" indent="0">
              <a:buNone/>
            </a:pPr>
            <a:r>
              <a:rPr lang="en-US" sz="1300" i="1" dirty="0">
                <a:solidFill>
                  <a:srgbClr val="0B78D0"/>
                </a:solidFill>
              </a:rPr>
              <a:t>The “Circulatory System”</a:t>
            </a:r>
            <a:endParaRPr lang="en-US" sz="1300" dirty="0"/>
          </a:p>
        </p:txBody>
      </p:sp>
      <p:sp>
        <p:nvSpPr>
          <p:cNvPr id="15" name="Text 12"/>
          <p:cNvSpPr/>
          <p:nvPr/>
        </p:nvSpPr>
        <p:spPr>
          <a:xfrm>
            <a:off x="6400800" y="3502152"/>
            <a:ext cx="4754880" cy="292608"/>
          </a:xfrm>
          <a:prstGeom prst="rect">
            <a:avLst/>
          </a:prstGeom>
          <a:noFill/>
          <a:ln/>
        </p:spPr>
        <p:txBody>
          <a:bodyPr wrap="square" lIns="0" tIns="0" rIns="0" bIns="0" rtlCol="0" anchor="ctr">
            <a:normAutofit/>
          </a:bodyPr>
          <a:lstStyle/>
          <a:p>
            <a:pPr marL="0" indent="0">
              <a:buNone/>
            </a:pPr>
            <a:r>
              <a:rPr lang="en-US" sz="1230" dirty="0">
                <a:solidFill>
                  <a:srgbClr val="1E293B"/>
                </a:solidFill>
              </a:rPr>
              <a:t>AGVs and AS/RS move parts between machines without human hands.</a:t>
            </a:r>
            <a:endParaRPr lang="en-US" sz="1230" dirty="0"/>
          </a:p>
        </p:txBody>
      </p:sp>
      <p:sp>
        <p:nvSpPr>
          <p:cNvPr id="16" name="Shape 13"/>
          <p:cNvSpPr/>
          <p:nvPr/>
        </p:nvSpPr>
        <p:spPr>
          <a:xfrm>
            <a:off x="5715000" y="4251960"/>
            <a:ext cx="5806440" cy="1143000"/>
          </a:xfrm>
          <a:prstGeom prst="roundRect">
            <a:avLst>
              <a:gd name="adj" fmla="val 6400"/>
            </a:avLst>
          </a:prstGeom>
          <a:solidFill>
            <a:srgbClr val="F7FAFC"/>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7" name="Text 14"/>
          <p:cNvSpPr/>
          <p:nvPr/>
        </p:nvSpPr>
        <p:spPr>
          <a:xfrm>
            <a:off x="5897880" y="4498848"/>
            <a:ext cx="384048" cy="384048"/>
          </a:xfrm>
          <a:prstGeom prst="rect">
            <a:avLst/>
          </a:prstGeom>
          <a:solidFill>
            <a:srgbClr val="0B78D0"/>
          </a:solidFill>
          <a:ln/>
        </p:spPr>
        <p:txBody>
          <a:bodyPr wrap="square" lIns="508" tIns="508" rIns="508" bIns="508" rtlCol="0" anchor="ctr"/>
          <a:lstStyle/>
          <a:p>
            <a:pPr marL="0" indent="0" algn="ctr">
              <a:buNone/>
            </a:pPr>
            <a:r>
              <a:rPr lang="en-US" sz="2000" b="1" dirty="0">
                <a:solidFill>
                  <a:srgbClr val="FFFFFF"/>
                </a:solidFill>
              </a:rPr>
              <a:t>C</a:t>
            </a:r>
            <a:endParaRPr lang="en-US" sz="2000" dirty="0"/>
          </a:p>
        </p:txBody>
      </p:sp>
      <p:sp>
        <p:nvSpPr>
          <p:cNvPr id="18" name="Text 15"/>
          <p:cNvSpPr/>
          <p:nvPr/>
        </p:nvSpPr>
        <p:spPr>
          <a:xfrm>
            <a:off x="6400800" y="4416552"/>
            <a:ext cx="4800600" cy="256032"/>
          </a:xfrm>
          <a:prstGeom prst="rect">
            <a:avLst/>
          </a:prstGeom>
          <a:noFill/>
          <a:ln/>
        </p:spPr>
        <p:txBody>
          <a:bodyPr wrap="square" lIns="0" tIns="0" rIns="0" bIns="0" rtlCol="0" anchor="ctr"/>
          <a:lstStyle/>
          <a:p>
            <a:pPr marL="0" indent="0">
              <a:buNone/>
            </a:pPr>
            <a:r>
              <a:rPr lang="en-US" sz="1700" b="1" dirty="0">
                <a:solidFill>
                  <a:srgbClr val="0F2447"/>
                </a:solidFill>
              </a:rPr>
              <a:t>The Central Control Computer</a:t>
            </a:r>
            <a:endParaRPr lang="en-US" sz="1700" dirty="0"/>
          </a:p>
        </p:txBody>
      </p:sp>
      <p:sp>
        <p:nvSpPr>
          <p:cNvPr id="19" name="Text 16"/>
          <p:cNvSpPr/>
          <p:nvPr/>
        </p:nvSpPr>
        <p:spPr>
          <a:xfrm>
            <a:off x="6400800" y="4709160"/>
            <a:ext cx="4800600" cy="228600"/>
          </a:xfrm>
          <a:prstGeom prst="rect">
            <a:avLst/>
          </a:prstGeom>
          <a:noFill/>
          <a:ln/>
        </p:spPr>
        <p:txBody>
          <a:bodyPr wrap="square" lIns="0" tIns="0" rIns="0" bIns="0" rtlCol="0" anchor="ctr"/>
          <a:lstStyle/>
          <a:p>
            <a:pPr marL="0" indent="0">
              <a:buNone/>
            </a:pPr>
            <a:r>
              <a:rPr lang="en-US" sz="1300" i="1" dirty="0">
                <a:solidFill>
                  <a:srgbClr val="0B78D0"/>
                </a:solidFill>
              </a:rPr>
              <a:t>The “Brain”</a:t>
            </a:r>
            <a:endParaRPr lang="en-US" sz="1300" dirty="0"/>
          </a:p>
        </p:txBody>
      </p:sp>
      <p:sp>
        <p:nvSpPr>
          <p:cNvPr id="20" name="Text 17"/>
          <p:cNvSpPr/>
          <p:nvPr/>
        </p:nvSpPr>
        <p:spPr>
          <a:xfrm>
            <a:off x="6400800" y="4965192"/>
            <a:ext cx="4754880" cy="292608"/>
          </a:xfrm>
          <a:prstGeom prst="rect">
            <a:avLst/>
          </a:prstGeom>
          <a:noFill/>
          <a:ln/>
        </p:spPr>
        <p:txBody>
          <a:bodyPr wrap="square" lIns="0" tIns="0" rIns="0" bIns="0" rtlCol="0" anchor="ctr">
            <a:normAutofit fontScale="92500"/>
          </a:bodyPr>
          <a:lstStyle/>
          <a:p>
            <a:pPr marL="0" indent="0">
              <a:buNone/>
            </a:pPr>
            <a:r>
              <a:rPr lang="en-US" sz="1230" dirty="0">
                <a:solidFill>
                  <a:srgbClr val="1E293B"/>
                </a:solidFill>
              </a:rPr>
              <a:t>Monitors machine status, tool wear, order priority, and reroutes work if needed.</a:t>
            </a:r>
            <a:endParaRPr lang="en-US" sz="123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Processing Stations: The “Muscles”</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Versatile CNC machines turn instructions into physical work.</a:t>
            </a:r>
            <a:endParaRPr lang="en-US" sz="1300" dirty="0"/>
          </a:p>
        </p:txBody>
      </p:sp>
      <p:sp>
        <p:nvSpPr>
          <p:cNvPr id="4" name="Shape 2"/>
          <p:cNvSpPr/>
          <p:nvPr/>
        </p:nvSpPr>
        <p:spPr>
          <a:xfrm>
            <a:off x="548640" y="1078992"/>
            <a:ext cx="1774682" cy="0"/>
          </a:xfrm>
          <a:prstGeom prst="line">
            <a:avLst/>
          </a:prstGeom>
          <a:noFill/>
          <a:ln w="38100">
            <a:solidFill>
              <a:srgbClr val="0B78D0"/>
            </a:solidFill>
            <a:prstDash val="solid"/>
          </a:ln>
        </p:spPr>
        <p:txBody>
          <a:bodyPr/>
          <a:lstStyle/>
          <a:p>
            <a:endParaRPr lang="en-US"/>
          </a:p>
        </p:txBody>
      </p:sp>
      <p:pic>
        <p:nvPicPr>
          <p:cNvPr id="5" name="Image 0" descr="/mnt/data/a_wide_high_resolution_industrial_interior_scene.png"/>
          <p:cNvPicPr>
            <a:picLocks noChangeAspect="1"/>
          </p:cNvPicPr>
          <p:nvPr/>
        </p:nvPicPr>
        <p:blipFill>
          <a:blip r:embed="rId3"/>
          <a:srcRect l="17799" r="17799"/>
          <a:stretch/>
        </p:blipFill>
        <p:spPr>
          <a:xfrm>
            <a:off x="640080" y="1325880"/>
            <a:ext cx="5074920" cy="4434840"/>
          </a:xfrm>
          <a:prstGeom prst="rect">
            <a:avLst/>
          </a:prstGeom>
        </p:spPr>
      </p:pic>
      <p:sp>
        <p:nvSpPr>
          <p:cNvPr id="6" name="Shape 3"/>
          <p:cNvSpPr/>
          <p:nvPr/>
        </p:nvSpPr>
        <p:spPr>
          <a:xfrm>
            <a:off x="5989320" y="1325880"/>
            <a:ext cx="5440680" cy="4434840"/>
          </a:xfrm>
          <a:prstGeom prst="roundRect">
            <a:avLst>
              <a:gd name="adj" fmla="val 1649"/>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309360" y="1691640"/>
            <a:ext cx="4800600" cy="3474720"/>
          </a:xfrm>
          <a:prstGeom prst="rect">
            <a:avLst/>
          </a:prstGeom>
          <a:noFill/>
          <a:ln/>
        </p:spPr>
        <p:txBody>
          <a:bodyPr wrap="square" lIns="1016" tIns="1016" rIns="1016" bIns="1016" rtlCol="0" anchor="t">
            <a:normAutofit/>
          </a:bodyPr>
          <a:lstStyle/>
          <a:p>
            <a:pPr marL="0" indent="0">
              <a:buNone/>
            </a:pPr>
            <a:r>
              <a:rPr lang="en-US" sz="1800" b="1" dirty="0">
                <a:solidFill>
                  <a:srgbClr val="0B78D0"/>
                </a:solidFill>
              </a:rPr>
              <a:t>• </a:t>
            </a:r>
            <a:r>
              <a:rPr lang="en-US" sz="1800" dirty="0">
                <a:solidFill>
                  <a:srgbClr val="1E293B"/>
                </a:solidFill>
              </a:rPr>
              <a:t>Usually CNC (Computer Numerical Control) machines.
</a:t>
            </a:r>
            <a:r>
              <a:rPr lang="en-US" sz="1800" b="1" dirty="0">
                <a:solidFill>
                  <a:srgbClr val="0B78D0"/>
                </a:solidFill>
              </a:rPr>
              <a:t>• </a:t>
            </a:r>
            <a:r>
              <a:rPr lang="en-US" sz="1800" dirty="0">
                <a:solidFill>
                  <a:srgbClr val="1E293B"/>
                </a:solidFill>
              </a:rPr>
              <a:t>Versatile robots can switch from drilling to milling to cutting.
</a:t>
            </a:r>
            <a:r>
              <a:rPr lang="en-US" sz="1800" b="1" dirty="0">
                <a:solidFill>
                  <a:srgbClr val="0B78D0"/>
                </a:solidFill>
              </a:rPr>
              <a:t>• </a:t>
            </a:r>
            <a:r>
              <a:rPr lang="en-US" sz="1800" dirty="0">
                <a:solidFill>
                  <a:srgbClr val="1E293B"/>
                </a:solidFill>
              </a:rPr>
              <a:t>They change tasks by downloading a new instruction set.
</a:t>
            </a:r>
            <a:r>
              <a:rPr lang="en-US" sz="1800" b="1" dirty="0">
                <a:solidFill>
                  <a:srgbClr val="0B78D0"/>
                </a:solidFill>
              </a:rPr>
              <a:t>• </a:t>
            </a:r>
            <a:r>
              <a:rPr lang="en-US" sz="1800" dirty="0">
                <a:solidFill>
                  <a:srgbClr val="1E293B"/>
                </a:solidFill>
              </a:rPr>
              <a:t>They reduce manual setup and make fast product changes possible.</a:t>
            </a:r>
            <a:endParaRPr lang="en-US" sz="18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Automated Material Handling: The “Circulatory System”</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How parts move between machines without human hands.</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sp>
        <p:nvSpPr>
          <p:cNvPr id="5" name="Shape 3"/>
          <p:cNvSpPr/>
          <p:nvPr/>
        </p:nvSpPr>
        <p:spPr>
          <a:xfrm>
            <a:off x="731520" y="1280160"/>
            <a:ext cx="3429000" cy="4480560"/>
          </a:xfrm>
          <a:prstGeom prst="roundRect">
            <a:avLst>
              <a:gd name="adj" fmla="val 2133"/>
            </a:avLst>
          </a:prstGeom>
          <a:solidFill>
            <a:srgbClr val="F8FB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6" name="Text 4"/>
          <p:cNvSpPr/>
          <p:nvPr/>
        </p:nvSpPr>
        <p:spPr>
          <a:xfrm>
            <a:off x="960120" y="1536192"/>
            <a:ext cx="2926080" cy="301752"/>
          </a:xfrm>
          <a:prstGeom prst="rect">
            <a:avLst/>
          </a:prstGeom>
          <a:noFill/>
          <a:ln/>
        </p:spPr>
        <p:txBody>
          <a:bodyPr wrap="square" lIns="0" tIns="0" rIns="0" bIns="0" rtlCol="0" anchor="ctr"/>
          <a:lstStyle/>
          <a:p>
            <a:pPr marL="0" indent="0" algn="ctr">
              <a:buNone/>
            </a:pPr>
            <a:r>
              <a:rPr lang="en-US" sz="2300" b="1" dirty="0">
                <a:solidFill>
                  <a:srgbClr val="0B78D0"/>
                </a:solidFill>
              </a:rPr>
              <a:t>AGVs</a:t>
            </a:r>
            <a:endParaRPr lang="en-US" sz="2300" dirty="0"/>
          </a:p>
        </p:txBody>
      </p:sp>
      <p:sp>
        <p:nvSpPr>
          <p:cNvPr id="7" name="Text 5"/>
          <p:cNvSpPr/>
          <p:nvPr/>
        </p:nvSpPr>
        <p:spPr>
          <a:xfrm>
            <a:off x="960120" y="1874520"/>
            <a:ext cx="2926080" cy="228600"/>
          </a:xfrm>
          <a:prstGeom prst="rect">
            <a:avLst/>
          </a:prstGeom>
          <a:noFill/>
          <a:ln/>
        </p:spPr>
        <p:txBody>
          <a:bodyPr wrap="square" lIns="0" tIns="0" rIns="0" bIns="0" rtlCol="0" anchor="ctr"/>
          <a:lstStyle/>
          <a:p>
            <a:pPr marL="0" indent="0" algn="ctr">
              <a:buNone/>
            </a:pPr>
            <a:r>
              <a:rPr lang="en-US" sz="1300" dirty="0">
                <a:solidFill>
                  <a:srgbClr val="64748B"/>
                </a:solidFill>
              </a:rPr>
              <a:t>Automated Guided Vehicles</a:t>
            </a:r>
            <a:endParaRPr lang="en-US" sz="1300" dirty="0"/>
          </a:p>
        </p:txBody>
      </p:sp>
      <p:sp>
        <p:nvSpPr>
          <p:cNvPr id="8" name="Text 6"/>
          <p:cNvSpPr/>
          <p:nvPr/>
        </p:nvSpPr>
        <p:spPr>
          <a:xfrm>
            <a:off x="1005840" y="2514600"/>
            <a:ext cx="2834640" cy="960120"/>
          </a:xfrm>
          <a:prstGeom prst="rect">
            <a:avLst/>
          </a:prstGeom>
          <a:noFill/>
          <a:ln/>
        </p:spPr>
        <p:txBody>
          <a:bodyPr wrap="square" lIns="0" tIns="0" rIns="0" bIns="0" rtlCol="0" anchor="ctr">
            <a:normAutofit/>
          </a:bodyPr>
          <a:lstStyle/>
          <a:p>
            <a:pPr marL="0" indent="0" algn="ctr">
              <a:buNone/>
            </a:pPr>
            <a:r>
              <a:rPr lang="en-US" sz="1800" dirty="0">
                <a:solidFill>
                  <a:srgbClr val="1E293B"/>
                </a:solidFill>
              </a:rPr>
              <a:t>Small, driverless robots that navigate the factory floor.</a:t>
            </a:r>
            <a:endParaRPr lang="en-US" sz="1800" dirty="0"/>
          </a:p>
        </p:txBody>
      </p:sp>
      <p:sp>
        <p:nvSpPr>
          <p:cNvPr id="9" name="Text 7"/>
          <p:cNvSpPr/>
          <p:nvPr/>
        </p:nvSpPr>
        <p:spPr>
          <a:xfrm>
            <a:off x="1005840" y="4160520"/>
            <a:ext cx="2834640" cy="457200"/>
          </a:xfrm>
          <a:prstGeom prst="rect">
            <a:avLst/>
          </a:prstGeom>
          <a:noFill/>
          <a:ln/>
        </p:spPr>
        <p:txBody>
          <a:bodyPr wrap="square" lIns="0" tIns="0" rIns="0" bIns="0" rtlCol="0" anchor="ctr">
            <a:normAutofit/>
          </a:bodyPr>
          <a:lstStyle/>
          <a:p>
            <a:pPr marL="0" indent="0" algn="ctr">
              <a:buNone/>
            </a:pPr>
            <a:r>
              <a:rPr lang="en-US" sz="1500" b="1" dirty="0">
                <a:solidFill>
                  <a:srgbClr val="0F2447"/>
                </a:solidFill>
              </a:rPr>
              <a:t>They move the right part to the right machine.</a:t>
            </a:r>
            <a:endParaRPr lang="en-US" sz="1500" dirty="0"/>
          </a:p>
        </p:txBody>
      </p:sp>
      <p:sp>
        <p:nvSpPr>
          <p:cNvPr id="10" name="Shape 8"/>
          <p:cNvSpPr/>
          <p:nvPr/>
        </p:nvSpPr>
        <p:spPr>
          <a:xfrm>
            <a:off x="4389120" y="1280160"/>
            <a:ext cx="3429000" cy="4480560"/>
          </a:xfrm>
          <a:prstGeom prst="roundRect">
            <a:avLst>
              <a:gd name="adj" fmla="val 2133"/>
            </a:avLst>
          </a:prstGeom>
          <a:solidFill>
            <a:srgbClr val="F8FB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1" name="Text 9"/>
          <p:cNvSpPr/>
          <p:nvPr/>
        </p:nvSpPr>
        <p:spPr>
          <a:xfrm>
            <a:off x="4617720" y="1536192"/>
            <a:ext cx="2926080" cy="301752"/>
          </a:xfrm>
          <a:prstGeom prst="rect">
            <a:avLst/>
          </a:prstGeom>
          <a:noFill/>
          <a:ln/>
        </p:spPr>
        <p:txBody>
          <a:bodyPr wrap="square" lIns="0" tIns="0" rIns="0" bIns="0" rtlCol="0" anchor="ctr"/>
          <a:lstStyle/>
          <a:p>
            <a:pPr marL="0" indent="0" algn="ctr">
              <a:buNone/>
            </a:pPr>
            <a:r>
              <a:rPr lang="en-US" sz="2300" b="1" dirty="0">
                <a:solidFill>
                  <a:srgbClr val="0B78D0"/>
                </a:solidFill>
              </a:rPr>
              <a:t>AS/RS</a:t>
            </a:r>
            <a:endParaRPr lang="en-US" sz="2300" dirty="0"/>
          </a:p>
        </p:txBody>
      </p:sp>
      <p:sp>
        <p:nvSpPr>
          <p:cNvPr id="12" name="Text 10"/>
          <p:cNvSpPr/>
          <p:nvPr/>
        </p:nvSpPr>
        <p:spPr>
          <a:xfrm>
            <a:off x="4617720" y="1874520"/>
            <a:ext cx="2926080" cy="411480"/>
          </a:xfrm>
          <a:prstGeom prst="rect">
            <a:avLst/>
          </a:prstGeom>
          <a:noFill/>
          <a:ln/>
        </p:spPr>
        <p:txBody>
          <a:bodyPr wrap="square" lIns="0" tIns="0" rIns="0" bIns="0" rtlCol="0" anchor="ctr">
            <a:normAutofit/>
          </a:bodyPr>
          <a:lstStyle/>
          <a:p>
            <a:pPr marL="0" indent="0" algn="ctr">
              <a:buNone/>
            </a:pPr>
            <a:r>
              <a:rPr lang="en-US" sz="1240" dirty="0">
                <a:solidFill>
                  <a:srgbClr val="64748B"/>
                </a:solidFill>
              </a:rPr>
              <a:t>Automated Storage and Retrieval Systems</a:t>
            </a:r>
            <a:endParaRPr lang="en-US" sz="1240" dirty="0"/>
          </a:p>
        </p:txBody>
      </p:sp>
      <p:sp>
        <p:nvSpPr>
          <p:cNvPr id="13" name="Text 11"/>
          <p:cNvSpPr/>
          <p:nvPr/>
        </p:nvSpPr>
        <p:spPr>
          <a:xfrm>
            <a:off x="4663440" y="2514600"/>
            <a:ext cx="2834640" cy="1143000"/>
          </a:xfrm>
          <a:prstGeom prst="rect">
            <a:avLst/>
          </a:prstGeom>
          <a:noFill/>
          <a:ln/>
        </p:spPr>
        <p:txBody>
          <a:bodyPr wrap="square" lIns="0" tIns="0" rIns="0" bIns="0" rtlCol="0" anchor="ctr">
            <a:normAutofit/>
          </a:bodyPr>
          <a:lstStyle/>
          <a:p>
            <a:pPr marL="0" indent="0" algn="ctr">
              <a:buNone/>
            </a:pPr>
            <a:r>
              <a:rPr lang="en-US" sz="1700" dirty="0">
                <a:solidFill>
                  <a:srgbClr val="1E293B"/>
                </a:solidFill>
              </a:rPr>
              <a:t>High-tech warehouses that “hand” the right part to the robot at exactly the right time.</a:t>
            </a:r>
            <a:endParaRPr lang="en-US" sz="1700" dirty="0"/>
          </a:p>
        </p:txBody>
      </p:sp>
      <p:sp>
        <p:nvSpPr>
          <p:cNvPr id="14" name="Text 12"/>
          <p:cNvSpPr/>
          <p:nvPr/>
        </p:nvSpPr>
        <p:spPr>
          <a:xfrm>
            <a:off x="4663440" y="4160520"/>
            <a:ext cx="2834640" cy="457200"/>
          </a:xfrm>
          <a:prstGeom prst="rect">
            <a:avLst/>
          </a:prstGeom>
          <a:noFill/>
          <a:ln/>
        </p:spPr>
        <p:txBody>
          <a:bodyPr wrap="square" lIns="0" tIns="0" rIns="0" bIns="0" rtlCol="0" anchor="ctr">
            <a:normAutofit/>
          </a:bodyPr>
          <a:lstStyle/>
          <a:p>
            <a:pPr marL="0" indent="0" algn="ctr">
              <a:buNone/>
            </a:pPr>
            <a:r>
              <a:rPr lang="en-US" sz="1500" b="1" dirty="0">
                <a:solidFill>
                  <a:srgbClr val="0F2447"/>
                </a:solidFill>
              </a:rPr>
              <a:t>This reduces waiting and manual carrying.</a:t>
            </a:r>
            <a:endParaRPr lang="en-US" sz="1500" dirty="0"/>
          </a:p>
        </p:txBody>
      </p:sp>
      <p:sp>
        <p:nvSpPr>
          <p:cNvPr id="15" name="Shape 13"/>
          <p:cNvSpPr/>
          <p:nvPr/>
        </p:nvSpPr>
        <p:spPr>
          <a:xfrm>
            <a:off x="8046720" y="1280160"/>
            <a:ext cx="3429000" cy="4480560"/>
          </a:xfrm>
          <a:prstGeom prst="roundRect">
            <a:avLst>
              <a:gd name="adj" fmla="val 2133"/>
            </a:avLst>
          </a:prstGeom>
          <a:solidFill>
            <a:srgbClr val="EAF4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6" name="Text 14"/>
          <p:cNvSpPr/>
          <p:nvPr/>
        </p:nvSpPr>
        <p:spPr>
          <a:xfrm>
            <a:off x="8275320" y="1536192"/>
            <a:ext cx="2926080" cy="301752"/>
          </a:xfrm>
          <a:prstGeom prst="rect">
            <a:avLst/>
          </a:prstGeom>
          <a:noFill/>
          <a:ln/>
        </p:spPr>
        <p:txBody>
          <a:bodyPr wrap="square" lIns="0" tIns="0" rIns="0" bIns="0" rtlCol="0" anchor="ctr"/>
          <a:lstStyle/>
          <a:p>
            <a:pPr marL="0" indent="0" algn="ctr">
              <a:buNone/>
            </a:pPr>
            <a:r>
              <a:rPr lang="en-US" sz="2300" b="1" dirty="0">
                <a:solidFill>
                  <a:srgbClr val="0F2447"/>
                </a:solidFill>
              </a:rPr>
              <a:t>Key Idea</a:t>
            </a:r>
            <a:endParaRPr lang="en-US" sz="2300" dirty="0"/>
          </a:p>
        </p:txBody>
      </p:sp>
      <p:sp>
        <p:nvSpPr>
          <p:cNvPr id="17" name="Text 15"/>
          <p:cNvSpPr/>
          <p:nvPr/>
        </p:nvSpPr>
        <p:spPr>
          <a:xfrm>
            <a:off x="8366760" y="2331720"/>
            <a:ext cx="2743200" cy="1463040"/>
          </a:xfrm>
          <a:prstGeom prst="rect">
            <a:avLst/>
          </a:prstGeom>
          <a:noFill/>
          <a:ln/>
        </p:spPr>
        <p:txBody>
          <a:bodyPr wrap="square" lIns="0" tIns="0" rIns="0" bIns="0" rtlCol="0" anchor="ctr">
            <a:normAutofit fontScale="92500" lnSpcReduction="10000"/>
          </a:bodyPr>
          <a:lstStyle/>
          <a:p>
            <a:pPr marL="0" indent="0" algn="ctr">
              <a:buNone/>
            </a:pPr>
            <a:r>
              <a:rPr lang="en-US" sz="1800" dirty="0">
                <a:solidFill>
                  <a:srgbClr val="1E293B"/>
                </a:solidFill>
              </a:rPr>
              <a:t>FMS material handling acts like the factory’s “delivery service.” It connects workstations and keeps production flowing without human hands.</a:t>
            </a:r>
            <a:endParaRPr lang="en-US" sz="1800" dirty="0"/>
          </a:p>
        </p:txBody>
      </p:sp>
      <p:sp>
        <p:nvSpPr>
          <p:cNvPr id="18" name="Text 16"/>
          <p:cNvSpPr/>
          <p:nvPr/>
        </p:nvSpPr>
        <p:spPr>
          <a:xfrm>
            <a:off x="8366760" y="4114800"/>
            <a:ext cx="2743200" cy="548640"/>
          </a:xfrm>
          <a:prstGeom prst="rect">
            <a:avLst/>
          </a:prstGeom>
          <a:noFill/>
          <a:ln/>
        </p:spPr>
        <p:txBody>
          <a:bodyPr wrap="square" lIns="0" tIns="0" rIns="0" bIns="0" rtlCol="0" anchor="ctr">
            <a:normAutofit/>
          </a:bodyPr>
          <a:lstStyle/>
          <a:p>
            <a:pPr marL="0" indent="0" algn="ctr">
              <a:buNone/>
            </a:pPr>
            <a:r>
              <a:rPr lang="en-US" sz="1500" b="1" dirty="0">
                <a:solidFill>
                  <a:srgbClr val="0B78D0"/>
                </a:solidFill>
              </a:rPr>
              <a:t>It knows which machine is busy, free, or next in line.</a:t>
            </a:r>
            <a:endParaRPr lang="en-US" sz="15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The Central Control Computer: The “Brain”</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This is where the information systems side comes in.</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pic>
        <p:nvPicPr>
          <p:cNvPr id="5" name="Image 0" descr="/mnt/data/a_wide_high_detail_realistic_industrial_factory.png"/>
          <p:cNvPicPr>
            <a:picLocks noChangeAspect="1"/>
          </p:cNvPicPr>
          <p:nvPr/>
        </p:nvPicPr>
        <p:blipFill>
          <a:blip r:embed="rId3"/>
          <a:srcRect l="17756" r="17756"/>
          <a:stretch/>
        </p:blipFill>
        <p:spPr>
          <a:xfrm>
            <a:off x="640080" y="1325880"/>
            <a:ext cx="5029200" cy="4389120"/>
          </a:xfrm>
          <a:prstGeom prst="rect">
            <a:avLst/>
          </a:prstGeom>
        </p:spPr>
      </p:pic>
      <p:sp>
        <p:nvSpPr>
          <p:cNvPr id="6" name="Shape 3"/>
          <p:cNvSpPr/>
          <p:nvPr/>
        </p:nvSpPr>
        <p:spPr>
          <a:xfrm>
            <a:off x="5989320" y="1325880"/>
            <a:ext cx="5440680" cy="4389120"/>
          </a:xfrm>
          <a:prstGeom prst="roundRect">
            <a:avLst>
              <a:gd name="adj" fmla="val 1667"/>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355080" y="1691640"/>
            <a:ext cx="4663440" cy="274320"/>
          </a:xfrm>
          <a:prstGeom prst="rect">
            <a:avLst/>
          </a:prstGeom>
          <a:noFill/>
          <a:ln/>
        </p:spPr>
        <p:txBody>
          <a:bodyPr wrap="square" lIns="0" tIns="0" rIns="0" bIns="0" rtlCol="0" anchor="ctr"/>
          <a:lstStyle/>
          <a:p>
            <a:pPr marL="0" indent="0">
              <a:buNone/>
            </a:pPr>
            <a:r>
              <a:rPr lang="en-US" sz="2000" b="1" dirty="0">
                <a:solidFill>
                  <a:srgbClr val="0F2447"/>
                </a:solidFill>
              </a:rPr>
              <a:t>The brain monitors:</a:t>
            </a:r>
            <a:endParaRPr lang="en-US" sz="2000" dirty="0"/>
          </a:p>
        </p:txBody>
      </p:sp>
      <p:sp>
        <p:nvSpPr>
          <p:cNvPr id="8" name="Text 5"/>
          <p:cNvSpPr/>
          <p:nvPr/>
        </p:nvSpPr>
        <p:spPr>
          <a:xfrm>
            <a:off x="6355080" y="2148840"/>
            <a:ext cx="4572000" cy="1463040"/>
          </a:xfrm>
          <a:prstGeom prst="rect">
            <a:avLst/>
          </a:prstGeom>
          <a:noFill/>
          <a:ln/>
        </p:spPr>
        <p:txBody>
          <a:bodyPr wrap="square" lIns="1016" tIns="1016" rIns="1016" bIns="1016" rtlCol="0" anchor="t">
            <a:normAutofit/>
          </a:bodyPr>
          <a:lstStyle/>
          <a:p>
            <a:pPr marL="0" indent="0">
              <a:buNone/>
            </a:pPr>
            <a:r>
              <a:rPr lang="en-US" sz="1700" b="1" dirty="0">
                <a:solidFill>
                  <a:srgbClr val="0B78D0"/>
                </a:solidFill>
              </a:rPr>
              <a:t>• </a:t>
            </a:r>
            <a:r>
              <a:rPr lang="en-US" sz="1700" dirty="0">
                <a:solidFill>
                  <a:srgbClr val="1E293B"/>
                </a:solidFill>
              </a:rPr>
              <a:t>Which machines are busy.
</a:t>
            </a:r>
            <a:r>
              <a:rPr lang="en-US" sz="1700" b="1" dirty="0">
                <a:solidFill>
                  <a:srgbClr val="0B78D0"/>
                </a:solidFill>
              </a:rPr>
              <a:t>• </a:t>
            </a:r>
            <a:r>
              <a:rPr lang="en-US" sz="1700" dirty="0">
                <a:solidFill>
                  <a:srgbClr val="1E293B"/>
                </a:solidFill>
              </a:rPr>
              <a:t>Which tools are getting dull and need replacing.
</a:t>
            </a:r>
            <a:r>
              <a:rPr lang="en-US" sz="1700" b="1" dirty="0">
                <a:solidFill>
                  <a:srgbClr val="0B78D0"/>
                </a:solidFill>
              </a:rPr>
              <a:t>• </a:t>
            </a:r>
            <a:r>
              <a:rPr lang="en-US" sz="1700" dirty="0">
                <a:solidFill>
                  <a:srgbClr val="1E293B"/>
                </a:solidFill>
              </a:rPr>
              <a:t>The priority of incoming orders.</a:t>
            </a:r>
            <a:endParaRPr lang="en-US" sz="1700" dirty="0"/>
          </a:p>
        </p:txBody>
      </p:sp>
      <p:sp>
        <p:nvSpPr>
          <p:cNvPr id="9" name="Shape 6"/>
          <p:cNvSpPr/>
          <p:nvPr/>
        </p:nvSpPr>
        <p:spPr>
          <a:xfrm>
            <a:off x="6355080" y="4160520"/>
            <a:ext cx="4709160" cy="914400"/>
          </a:xfrm>
          <a:prstGeom prst="roundRect">
            <a:avLst>
              <a:gd name="adj" fmla="val 8000"/>
            </a:avLst>
          </a:prstGeom>
          <a:solidFill>
            <a:srgbClr val="EAF4FF"/>
          </a:solidFill>
          <a:ln w="12700">
            <a:solidFill>
              <a:srgbClr val="B5D9F5"/>
            </a:solidFill>
            <a:prstDash val="solid"/>
          </a:ln>
        </p:spPr>
        <p:txBody>
          <a:bodyPr/>
          <a:lstStyle/>
          <a:p>
            <a:endParaRPr lang="en-US"/>
          </a:p>
        </p:txBody>
      </p:sp>
      <p:sp>
        <p:nvSpPr>
          <p:cNvPr id="10" name="Text 7"/>
          <p:cNvSpPr/>
          <p:nvPr/>
        </p:nvSpPr>
        <p:spPr>
          <a:xfrm>
            <a:off x="6583680" y="4416552"/>
            <a:ext cx="4251960" cy="347472"/>
          </a:xfrm>
          <a:prstGeom prst="rect">
            <a:avLst/>
          </a:prstGeom>
          <a:noFill/>
          <a:ln/>
        </p:spPr>
        <p:txBody>
          <a:bodyPr wrap="square" lIns="0" tIns="0" rIns="0" bIns="0" rtlCol="0" anchor="ctr">
            <a:normAutofit fontScale="77500" lnSpcReduction="20000"/>
          </a:bodyPr>
          <a:lstStyle/>
          <a:p>
            <a:pPr marL="0" indent="0">
              <a:buNone/>
            </a:pPr>
            <a:r>
              <a:rPr lang="en-US" sz="1600" b="1" dirty="0">
                <a:solidFill>
                  <a:srgbClr val="0F2447"/>
                </a:solidFill>
              </a:rPr>
              <a:t>If one machine fails, the whole factory does not stop — the computer reroutes the work.</a:t>
            </a:r>
            <a:endParaRPr lang="en-US" sz="16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Automotive Industry: Mixed-Model Assembly</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Automotive is about speed and variety.</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pic>
        <p:nvPicPr>
          <p:cNvPr id="5" name="Image 0" descr="/mnt/data/a_wide_ultra_clean_high_tech_automotive_factory.png"/>
          <p:cNvPicPr>
            <a:picLocks noChangeAspect="1"/>
          </p:cNvPicPr>
          <p:nvPr/>
        </p:nvPicPr>
        <p:blipFill>
          <a:blip r:embed="rId3"/>
          <a:srcRect l="16232" r="16232"/>
          <a:stretch/>
        </p:blipFill>
        <p:spPr>
          <a:xfrm>
            <a:off x="594360" y="1280160"/>
            <a:ext cx="5486400" cy="4572000"/>
          </a:xfrm>
          <a:prstGeom prst="rect">
            <a:avLst/>
          </a:prstGeom>
        </p:spPr>
      </p:pic>
      <p:sp>
        <p:nvSpPr>
          <p:cNvPr id="6" name="Shape 3"/>
          <p:cNvSpPr/>
          <p:nvPr/>
        </p:nvSpPr>
        <p:spPr>
          <a:xfrm>
            <a:off x="6400800" y="1280160"/>
            <a:ext cx="5074920" cy="4572000"/>
          </a:xfrm>
          <a:prstGeom prst="roundRect">
            <a:avLst>
              <a:gd name="adj" fmla="val 1600"/>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720840" y="1627632"/>
            <a:ext cx="4572000" cy="274320"/>
          </a:xfrm>
          <a:prstGeom prst="rect">
            <a:avLst/>
          </a:prstGeom>
          <a:noFill/>
          <a:ln/>
        </p:spPr>
        <p:txBody>
          <a:bodyPr wrap="square" lIns="0" tIns="0" rIns="0" bIns="0" rtlCol="0" anchor="ctr"/>
          <a:lstStyle/>
          <a:p>
            <a:pPr marL="0" indent="0">
              <a:buNone/>
            </a:pPr>
            <a:r>
              <a:rPr lang="en-US" sz="2000" b="1" dirty="0">
                <a:solidFill>
                  <a:srgbClr val="0B78D0"/>
                </a:solidFill>
              </a:rPr>
              <a:t>The Concept</a:t>
            </a:r>
            <a:endParaRPr lang="en-US" sz="2000" dirty="0"/>
          </a:p>
        </p:txBody>
      </p:sp>
      <p:sp>
        <p:nvSpPr>
          <p:cNvPr id="8" name="Text 5"/>
          <p:cNvSpPr/>
          <p:nvPr/>
        </p:nvSpPr>
        <p:spPr>
          <a:xfrm>
            <a:off x="6720840" y="2011680"/>
            <a:ext cx="4389120" cy="749808"/>
          </a:xfrm>
          <a:prstGeom prst="rect">
            <a:avLst/>
          </a:prstGeom>
          <a:noFill/>
          <a:ln/>
        </p:spPr>
        <p:txBody>
          <a:bodyPr wrap="square" lIns="0" tIns="0" rIns="0" bIns="0" rtlCol="0" anchor="ctr">
            <a:normAutofit/>
          </a:bodyPr>
          <a:lstStyle/>
          <a:p>
            <a:pPr marL="0" indent="0">
              <a:buNone/>
            </a:pPr>
            <a:r>
              <a:rPr lang="en-US" sz="1550" dirty="0">
                <a:solidFill>
                  <a:srgbClr val="1E293B"/>
                </a:solidFill>
              </a:rPr>
              <a:t>In the past, a car factory had one line for a sedan and a different line for an SUV. If nobody bought the sedan, that line sat idle.</a:t>
            </a:r>
            <a:endParaRPr lang="en-US" sz="1550" dirty="0"/>
          </a:p>
        </p:txBody>
      </p:sp>
      <p:sp>
        <p:nvSpPr>
          <p:cNvPr id="9" name="Text 6"/>
          <p:cNvSpPr/>
          <p:nvPr/>
        </p:nvSpPr>
        <p:spPr>
          <a:xfrm>
            <a:off x="6720840" y="2971800"/>
            <a:ext cx="4572000" cy="274320"/>
          </a:xfrm>
          <a:prstGeom prst="rect">
            <a:avLst/>
          </a:prstGeom>
          <a:noFill/>
          <a:ln/>
        </p:spPr>
        <p:txBody>
          <a:bodyPr wrap="square" lIns="0" tIns="0" rIns="0" bIns="0" rtlCol="0" anchor="ctr"/>
          <a:lstStyle/>
          <a:p>
            <a:pPr marL="0" indent="0">
              <a:buNone/>
            </a:pPr>
            <a:r>
              <a:rPr lang="en-US" sz="2000" b="1" dirty="0">
                <a:solidFill>
                  <a:srgbClr val="0B78D0"/>
                </a:solidFill>
              </a:rPr>
              <a:t>How FMS makes it happen</a:t>
            </a:r>
            <a:endParaRPr lang="en-US" sz="2000" dirty="0"/>
          </a:p>
        </p:txBody>
      </p:sp>
      <p:sp>
        <p:nvSpPr>
          <p:cNvPr id="10" name="Text 7"/>
          <p:cNvSpPr/>
          <p:nvPr/>
        </p:nvSpPr>
        <p:spPr>
          <a:xfrm>
            <a:off x="6720840" y="3383280"/>
            <a:ext cx="4480560" cy="1691640"/>
          </a:xfrm>
          <a:prstGeom prst="rect">
            <a:avLst/>
          </a:prstGeom>
          <a:noFill/>
          <a:ln/>
        </p:spPr>
        <p:txBody>
          <a:bodyPr wrap="square" lIns="1016" tIns="1016" rIns="1016" bIns="1016" rtlCol="0" anchor="t">
            <a:normAutofit/>
          </a:bodyPr>
          <a:lstStyle/>
          <a:p>
            <a:pPr marL="0" indent="0">
              <a:buNone/>
            </a:pPr>
            <a:r>
              <a:rPr lang="en-US" sz="1470" b="1" dirty="0">
                <a:solidFill>
                  <a:srgbClr val="0B78D0"/>
                </a:solidFill>
              </a:rPr>
              <a:t>• </a:t>
            </a:r>
            <a:r>
              <a:rPr lang="en-US" sz="1470" dirty="0">
                <a:solidFill>
                  <a:srgbClr val="1E293B"/>
                </a:solidFill>
              </a:rPr>
              <a:t>A car chassis carries a digital tag, like an RFID chip.
</a:t>
            </a:r>
            <a:r>
              <a:rPr lang="en-US" sz="1470" b="1" dirty="0">
                <a:solidFill>
                  <a:srgbClr val="0B78D0"/>
                </a:solidFill>
              </a:rPr>
              <a:t>• </a:t>
            </a:r>
            <a:r>
              <a:rPr lang="en-US" sz="1470" dirty="0">
                <a:solidFill>
                  <a:srgbClr val="1E293B"/>
                </a:solidFill>
              </a:rPr>
              <a:t>The central computer reads the tag at each workstation.
</a:t>
            </a:r>
            <a:r>
              <a:rPr lang="en-US" sz="1470" b="1" dirty="0">
                <a:solidFill>
                  <a:srgbClr val="0B78D0"/>
                </a:solidFill>
              </a:rPr>
              <a:t>• </a:t>
            </a:r>
            <a:r>
              <a:rPr lang="en-US" sz="1470" dirty="0">
                <a:solidFill>
                  <a:srgbClr val="1E293B"/>
                </a:solidFill>
              </a:rPr>
              <a:t>Robots swap tools to weld an SUV roof, then switch again for a sedan.</a:t>
            </a:r>
            <a:endParaRPr lang="en-US" sz="147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Real-Life Example: BMW Group</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A flexible assembly line can adjust the product mix.</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sp>
        <p:nvSpPr>
          <p:cNvPr id="5" name="Shape 3"/>
          <p:cNvSpPr/>
          <p:nvPr/>
        </p:nvSpPr>
        <p:spPr>
          <a:xfrm>
            <a:off x="731520" y="1325880"/>
            <a:ext cx="10744200" cy="4526280"/>
          </a:xfrm>
          <a:prstGeom prst="roundRect">
            <a:avLst>
              <a:gd name="adj" fmla="val 1616"/>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6" name="Text 4"/>
          <p:cNvSpPr/>
          <p:nvPr/>
        </p:nvSpPr>
        <p:spPr>
          <a:xfrm>
            <a:off x="1097280" y="1691640"/>
            <a:ext cx="1828800" cy="274320"/>
          </a:xfrm>
          <a:prstGeom prst="rect">
            <a:avLst/>
          </a:prstGeom>
          <a:noFill/>
          <a:ln/>
        </p:spPr>
        <p:txBody>
          <a:bodyPr wrap="square" lIns="0" tIns="0" rIns="0" bIns="0" rtlCol="0" anchor="ctr"/>
          <a:lstStyle/>
          <a:p>
            <a:pPr marL="0" indent="0">
              <a:buNone/>
            </a:pPr>
            <a:r>
              <a:rPr lang="en-US" sz="2000" b="1" dirty="0">
                <a:solidFill>
                  <a:srgbClr val="0B78D0"/>
                </a:solidFill>
              </a:rPr>
              <a:t>The Story</a:t>
            </a:r>
            <a:endParaRPr lang="en-US" sz="2000" dirty="0"/>
          </a:p>
        </p:txBody>
      </p:sp>
      <p:sp>
        <p:nvSpPr>
          <p:cNvPr id="7" name="Text 5"/>
          <p:cNvSpPr/>
          <p:nvPr/>
        </p:nvSpPr>
        <p:spPr>
          <a:xfrm>
            <a:off x="1097280" y="2075688"/>
            <a:ext cx="9921240" cy="822960"/>
          </a:xfrm>
          <a:prstGeom prst="rect">
            <a:avLst/>
          </a:prstGeom>
          <a:noFill/>
          <a:ln/>
        </p:spPr>
        <p:txBody>
          <a:bodyPr wrap="square" lIns="0" tIns="0" rIns="0" bIns="0" rtlCol="0" anchor="ctr">
            <a:normAutofit/>
          </a:bodyPr>
          <a:lstStyle/>
          <a:p>
            <a:pPr marL="0" indent="0">
              <a:buNone/>
            </a:pPr>
            <a:r>
              <a:rPr lang="en-US" sz="1700" dirty="0">
                <a:solidFill>
                  <a:srgbClr val="1E293B"/>
                </a:solidFill>
              </a:rPr>
              <a:t>BMW manufacturing plants, such as Munich, integrated FMS so deeply that they can build an internal combustion engine car, a plug-in hybrid, and a fully electric vehicle such as the BMW i4 on the exact same assembly line.</a:t>
            </a:r>
            <a:endParaRPr lang="en-US" sz="1700" dirty="0"/>
          </a:p>
        </p:txBody>
      </p:sp>
      <p:sp>
        <p:nvSpPr>
          <p:cNvPr id="8" name="Shape 6"/>
          <p:cNvSpPr/>
          <p:nvPr/>
        </p:nvSpPr>
        <p:spPr>
          <a:xfrm>
            <a:off x="1097280" y="3154680"/>
            <a:ext cx="9875520" cy="0"/>
          </a:xfrm>
          <a:prstGeom prst="line">
            <a:avLst/>
          </a:prstGeom>
          <a:noFill/>
          <a:ln w="15240">
            <a:solidFill>
              <a:srgbClr val="CFE0F2"/>
            </a:solidFill>
            <a:prstDash val="solid"/>
          </a:ln>
        </p:spPr>
        <p:txBody>
          <a:bodyPr/>
          <a:lstStyle/>
          <a:p>
            <a:endParaRPr lang="en-US"/>
          </a:p>
        </p:txBody>
      </p:sp>
      <p:sp>
        <p:nvSpPr>
          <p:cNvPr id="9" name="Text 7"/>
          <p:cNvSpPr/>
          <p:nvPr/>
        </p:nvSpPr>
        <p:spPr>
          <a:xfrm>
            <a:off x="1097280" y="3456432"/>
            <a:ext cx="2011680" cy="274320"/>
          </a:xfrm>
          <a:prstGeom prst="rect">
            <a:avLst/>
          </a:prstGeom>
          <a:noFill/>
          <a:ln/>
        </p:spPr>
        <p:txBody>
          <a:bodyPr wrap="square" lIns="0" tIns="0" rIns="0" bIns="0" rtlCol="0" anchor="ctr"/>
          <a:lstStyle/>
          <a:p>
            <a:pPr marL="0" indent="0">
              <a:buNone/>
            </a:pPr>
            <a:r>
              <a:rPr lang="en-US" sz="2000" b="1" dirty="0">
                <a:solidFill>
                  <a:srgbClr val="0B78D0"/>
                </a:solidFill>
              </a:rPr>
              <a:t>The Impact</a:t>
            </a:r>
            <a:endParaRPr lang="en-US" sz="2000" dirty="0"/>
          </a:p>
        </p:txBody>
      </p:sp>
      <p:sp>
        <p:nvSpPr>
          <p:cNvPr id="10" name="Text 8"/>
          <p:cNvSpPr/>
          <p:nvPr/>
        </p:nvSpPr>
        <p:spPr>
          <a:xfrm>
            <a:off x="1097280" y="3840480"/>
            <a:ext cx="9921240" cy="777240"/>
          </a:xfrm>
          <a:prstGeom prst="rect">
            <a:avLst/>
          </a:prstGeom>
          <a:noFill/>
          <a:ln/>
        </p:spPr>
        <p:txBody>
          <a:bodyPr wrap="square" lIns="0" tIns="0" rIns="0" bIns="0" rtlCol="0" anchor="ctr">
            <a:normAutofit/>
          </a:bodyPr>
          <a:lstStyle/>
          <a:p>
            <a:pPr marL="0" indent="0">
              <a:buNone/>
            </a:pPr>
            <a:r>
              <a:rPr lang="en-US" sz="1700" dirty="0">
                <a:solidFill>
                  <a:srgbClr val="1E293B"/>
                </a:solidFill>
              </a:rPr>
              <a:t>When consumer demand shifted toward electric vehicles, BMW did not need to build a brand-new factory. The flexible system adjusted the ratio, sending more EV parts down the line without missing a beat.</a:t>
            </a:r>
            <a:endParaRPr lang="en-US" sz="1700" dirty="0"/>
          </a:p>
        </p:txBody>
      </p:sp>
      <p:sp>
        <p:nvSpPr>
          <p:cNvPr id="11" name="Shape 9"/>
          <p:cNvSpPr/>
          <p:nvPr/>
        </p:nvSpPr>
        <p:spPr>
          <a:xfrm>
            <a:off x="4206240" y="5074920"/>
            <a:ext cx="3566160" cy="384048"/>
          </a:xfrm>
          <a:prstGeom prst="roundRect">
            <a:avLst>
              <a:gd name="adj" fmla="val 28571"/>
            </a:avLst>
          </a:prstGeom>
          <a:solidFill>
            <a:srgbClr val="0F2447"/>
          </a:solidFill>
          <a:ln w="12700">
            <a:solidFill>
              <a:srgbClr val="333333">
                <a:alpha val="0"/>
              </a:srgbClr>
            </a:solidFill>
            <a:prstDash val="solid"/>
          </a:ln>
        </p:spPr>
        <p:txBody>
          <a:bodyPr/>
          <a:lstStyle/>
          <a:p>
            <a:endParaRPr lang="en-US"/>
          </a:p>
        </p:txBody>
      </p:sp>
      <p:sp>
        <p:nvSpPr>
          <p:cNvPr id="12" name="Text 10"/>
          <p:cNvSpPr/>
          <p:nvPr/>
        </p:nvSpPr>
        <p:spPr>
          <a:xfrm>
            <a:off x="4297680" y="5166360"/>
            <a:ext cx="3383280" cy="201168"/>
          </a:xfrm>
          <a:prstGeom prst="rect">
            <a:avLst/>
          </a:prstGeom>
          <a:noFill/>
          <a:ln/>
        </p:spPr>
        <p:txBody>
          <a:bodyPr wrap="square" lIns="0" tIns="0" rIns="0" bIns="0" rtlCol="0" anchor="ctr"/>
          <a:lstStyle/>
          <a:p>
            <a:pPr marL="0" indent="0" algn="ctr">
              <a:buNone/>
            </a:pPr>
            <a:r>
              <a:rPr lang="en-US" sz="1200" b="1" dirty="0">
                <a:solidFill>
                  <a:srgbClr val="FFFFFF"/>
                </a:solidFill>
              </a:rPr>
              <a:t>Automotive = speed + variety</a:t>
            </a:r>
            <a:endParaRPr lang="en-US" sz="12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Aerospace Industry: High-Precision, Low-Volume</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Aerospace is about extreme precision and avoiding costly mistakes.</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sp>
        <p:nvSpPr>
          <p:cNvPr id="6" name="Shape 3"/>
          <p:cNvSpPr/>
          <p:nvPr/>
        </p:nvSpPr>
        <p:spPr>
          <a:xfrm>
            <a:off x="6400800" y="1280160"/>
            <a:ext cx="5074920" cy="4572000"/>
          </a:xfrm>
          <a:prstGeom prst="roundRect">
            <a:avLst>
              <a:gd name="adj" fmla="val 1600"/>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720840" y="1627632"/>
            <a:ext cx="4572000" cy="274320"/>
          </a:xfrm>
          <a:prstGeom prst="rect">
            <a:avLst/>
          </a:prstGeom>
          <a:noFill/>
          <a:ln/>
        </p:spPr>
        <p:txBody>
          <a:bodyPr wrap="square" lIns="0" tIns="0" rIns="0" bIns="0" rtlCol="0" anchor="ctr"/>
          <a:lstStyle/>
          <a:p>
            <a:pPr marL="0" indent="0">
              <a:buNone/>
            </a:pPr>
            <a:r>
              <a:rPr lang="en-US" sz="2000" b="1" dirty="0">
                <a:solidFill>
                  <a:srgbClr val="0B78D0"/>
                </a:solidFill>
              </a:rPr>
              <a:t>The Concept</a:t>
            </a:r>
            <a:endParaRPr lang="en-US" sz="2000" dirty="0"/>
          </a:p>
        </p:txBody>
      </p:sp>
      <p:sp>
        <p:nvSpPr>
          <p:cNvPr id="8" name="Text 5"/>
          <p:cNvSpPr/>
          <p:nvPr/>
        </p:nvSpPr>
        <p:spPr>
          <a:xfrm>
            <a:off x="6720840" y="2011680"/>
            <a:ext cx="4434840" cy="786384"/>
          </a:xfrm>
          <a:prstGeom prst="rect">
            <a:avLst/>
          </a:prstGeom>
          <a:noFill/>
          <a:ln/>
        </p:spPr>
        <p:txBody>
          <a:bodyPr wrap="square" lIns="0" tIns="0" rIns="0" bIns="0" rtlCol="0" anchor="ctr">
            <a:normAutofit fontScale="92500"/>
          </a:bodyPr>
          <a:lstStyle/>
          <a:p>
            <a:pPr marL="0" indent="0">
              <a:buNone/>
            </a:pPr>
            <a:r>
              <a:rPr lang="en-US" sz="1550" dirty="0">
                <a:solidFill>
                  <a:srgbClr val="1E293B"/>
                </a:solidFill>
              </a:rPr>
              <a:t>Aerospace has the opposite problem of cars. It is low-volume, but the parts are complex, highly regulated, and made from expensive materials like titanium.</a:t>
            </a:r>
            <a:endParaRPr lang="en-US" sz="1550" dirty="0"/>
          </a:p>
        </p:txBody>
      </p:sp>
      <p:sp>
        <p:nvSpPr>
          <p:cNvPr id="9" name="Text 6"/>
          <p:cNvSpPr/>
          <p:nvPr/>
        </p:nvSpPr>
        <p:spPr>
          <a:xfrm>
            <a:off x="6720840" y="2971800"/>
            <a:ext cx="4572000" cy="274320"/>
          </a:xfrm>
          <a:prstGeom prst="rect">
            <a:avLst/>
          </a:prstGeom>
          <a:noFill/>
          <a:ln/>
        </p:spPr>
        <p:txBody>
          <a:bodyPr wrap="square" lIns="0" tIns="0" rIns="0" bIns="0" rtlCol="0" anchor="ctr"/>
          <a:lstStyle/>
          <a:p>
            <a:pPr marL="0" indent="0">
              <a:buNone/>
            </a:pPr>
            <a:r>
              <a:rPr lang="en-US" sz="2000" b="1" dirty="0">
                <a:solidFill>
                  <a:srgbClr val="0B78D0"/>
                </a:solidFill>
              </a:rPr>
              <a:t>How FMS makes it happen</a:t>
            </a:r>
            <a:endParaRPr lang="en-US" sz="2000" dirty="0"/>
          </a:p>
        </p:txBody>
      </p:sp>
      <p:sp>
        <p:nvSpPr>
          <p:cNvPr id="10" name="Text 7"/>
          <p:cNvSpPr/>
          <p:nvPr/>
        </p:nvSpPr>
        <p:spPr>
          <a:xfrm>
            <a:off x="6720840" y="3383280"/>
            <a:ext cx="4480560" cy="1691640"/>
          </a:xfrm>
          <a:prstGeom prst="rect">
            <a:avLst/>
          </a:prstGeom>
          <a:noFill/>
          <a:ln/>
        </p:spPr>
        <p:txBody>
          <a:bodyPr wrap="square" lIns="1016" tIns="1016" rIns="1016" bIns="1016" rtlCol="0" anchor="t">
            <a:normAutofit/>
          </a:bodyPr>
          <a:lstStyle/>
          <a:p>
            <a:pPr marL="0" indent="0">
              <a:buNone/>
            </a:pPr>
            <a:r>
              <a:rPr lang="en-US" sz="1450" b="1" dirty="0">
                <a:solidFill>
                  <a:srgbClr val="0B78D0"/>
                </a:solidFill>
              </a:rPr>
              <a:t>• </a:t>
            </a:r>
            <a:r>
              <a:rPr lang="en-US" sz="1450" dirty="0">
                <a:solidFill>
                  <a:srgbClr val="1E293B"/>
                </a:solidFill>
              </a:rPr>
              <a:t>Used in machining centers.
</a:t>
            </a:r>
            <a:r>
              <a:rPr lang="en-US" sz="1450" b="1" dirty="0">
                <a:solidFill>
                  <a:srgbClr val="0B78D0"/>
                </a:solidFill>
              </a:rPr>
              <a:t>• </a:t>
            </a:r>
            <a:r>
              <a:rPr lang="en-US" sz="1450" dirty="0">
                <a:solidFill>
                  <a:srgbClr val="1E293B"/>
                </a:solidFill>
              </a:rPr>
              <a:t>A turbine blade may need milling, drilling, grinding, and laser inspection.
</a:t>
            </a:r>
            <a:r>
              <a:rPr lang="en-US" sz="1450" b="1" dirty="0">
                <a:solidFill>
                  <a:srgbClr val="0B78D0"/>
                </a:solidFill>
              </a:rPr>
              <a:t>• </a:t>
            </a:r>
            <a:r>
              <a:rPr lang="en-US" sz="1450" dirty="0">
                <a:solidFill>
                  <a:srgbClr val="1E293B"/>
                </a:solidFill>
              </a:rPr>
              <a:t>The raw block can be clamped once while the automated system cycles through hundreds of tools.</a:t>
            </a:r>
            <a:endParaRPr lang="en-US" sz="145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10</a:t>
            </a:fld>
            <a:endParaRPr lang="en-US"/>
          </a:p>
        </p:txBody>
      </p:sp>
      <p:pic>
        <p:nvPicPr>
          <p:cNvPr id="12" name="Picture 11">
            <a:extLst>
              <a:ext uri="{FF2B5EF4-FFF2-40B4-BE49-F238E27FC236}">
                <a16:creationId xmlns:a16="http://schemas.microsoft.com/office/drawing/2014/main" id="{A31880CA-8D6D-C576-85FA-3C398D9F8779}"/>
              </a:ext>
            </a:extLst>
          </p:cNvPr>
          <p:cNvPicPr>
            <a:picLocks noChangeAspect="1"/>
          </p:cNvPicPr>
          <p:nvPr/>
        </p:nvPicPr>
        <p:blipFill>
          <a:blip r:embed="rId3"/>
          <a:stretch>
            <a:fillRect/>
          </a:stretch>
        </p:blipFill>
        <p:spPr>
          <a:xfrm>
            <a:off x="566928" y="1170432"/>
            <a:ext cx="5325218" cy="53252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Real-Life Example: GE Aerospace / Aviation</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Flexible systems can run “lights out” and switch parts by file.</a:t>
            </a:r>
            <a:endParaRPr lang="en-US" sz="1300" dirty="0"/>
          </a:p>
        </p:txBody>
      </p:sp>
      <p:sp>
        <p:nvSpPr>
          <p:cNvPr id="4" name="Shape 2"/>
          <p:cNvSpPr/>
          <p:nvPr/>
        </p:nvSpPr>
        <p:spPr>
          <a:xfrm>
            <a:off x="548640" y="1097654"/>
            <a:ext cx="2057400" cy="0"/>
          </a:xfrm>
          <a:prstGeom prst="line">
            <a:avLst/>
          </a:prstGeom>
          <a:noFill/>
          <a:ln w="38100">
            <a:solidFill>
              <a:srgbClr val="0B78D0"/>
            </a:solidFill>
            <a:prstDash val="solid"/>
          </a:ln>
        </p:spPr>
        <p:txBody>
          <a:bodyPr/>
          <a:lstStyle/>
          <a:p>
            <a:endParaRPr lang="en-US"/>
          </a:p>
        </p:txBody>
      </p:sp>
      <p:sp>
        <p:nvSpPr>
          <p:cNvPr id="5" name="Shape 3"/>
          <p:cNvSpPr/>
          <p:nvPr/>
        </p:nvSpPr>
        <p:spPr>
          <a:xfrm>
            <a:off x="685800" y="1325880"/>
            <a:ext cx="5303520" cy="4480560"/>
          </a:xfrm>
          <a:prstGeom prst="roundRect">
            <a:avLst>
              <a:gd name="adj" fmla="val 1633"/>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6" name="Text 4"/>
          <p:cNvSpPr/>
          <p:nvPr/>
        </p:nvSpPr>
        <p:spPr>
          <a:xfrm>
            <a:off x="1005840" y="1645920"/>
            <a:ext cx="1828800" cy="274320"/>
          </a:xfrm>
          <a:prstGeom prst="rect">
            <a:avLst/>
          </a:prstGeom>
          <a:noFill/>
          <a:ln/>
        </p:spPr>
        <p:txBody>
          <a:bodyPr wrap="square" lIns="0" tIns="0" rIns="0" bIns="0" rtlCol="0" anchor="ctr"/>
          <a:lstStyle/>
          <a:p>
            <a:pPr marL="0" indent="0">
              <a:buNone/>
            </a:pPr>
            <a:r>
              <a:rPr lang="en-US" sz="2000" b="1" dirty="0">
                <a:solidFill>
                  <a:srgbClr val="0B78D0"/>
                </a:solidFill>
              </a:rPr>
              <a:t>The Story</a:t>
            </a:r>
            <a:endParaRPr lang="en-US" sz="2000" dirty="0"/>
          </a:p>
        </p:txBody>
      </p:sp>
      <p:sp>
        <p:nvSpPr>
          <p:cNvPr id="7" name="Text 5"/>
          <p:cNvSpPr/>
          <p:nvPr/>
        </p:nvSpPr>
        <p:spPr>
          <a:xfrm>
            <a:off x="1005840" y="2057400"/>
            <a:ext cx="4663440" cy="1417320"/>
          </a:xfrm>
          <a:prstGeom prst="rect">
            <a:avLst/>
          </a:prstGeom>
          <a:noFill/>
          <a:ln/>
        </p:spPr>
        <p:txBody>
          <a:bodyPr wrap="square" lIns="0" tIns="0" rIns="0" bIns="0" rtlCol="0" anchor="ctr">
            <a:normAutofit/>
          </a:bodyPr>
          <a:lstStyle/>
          <a:p>
            <a:pPr marL="0" indent="0">
              <a:buNone/>
            </a:pPr>
            <a:r>
              <a:rPr lang="en-US" sz="1600" dirty="0">
                <a:solidFill>
                  <a:srgbClr val="1E293B"/>
                </a:solidFill>
              </a:rPr>
              <a:t>GE Aerospace uses FMS to produce complex jet engine components using massive multi-axis CNC machines connected by automated pallets. The system can be loaded on Friday afternoon and run “lights out” over the weekend.</a:t>
            </a:r>
            <a:endParaRPr lang="en-US" sz="1600" dirty="0"/>
          </a:p>
        </p:txBody>
      </p:sp>
      <p:sp>
        <p:nvSpPr>
          <p:cNvPr id="8" name="Text 6"/>
          <p:cNvSpPr/>
          <p:nvPr/>
        </p:nvSpPr>
        <p:spPr>
          <a:xfrm>
            <a:off x="1005840" y="3794760"/>
            <a:ext cx="1828800" cy="274320"/>
          </a:xfrm>
          <a:prstGeom prst="rect">
            <a:avLst/>
          </a:prstGeom>
          <a:noFill/>
          <a:ln/>
        </p:spPr>
        <p:txBody>
          <a:bodyPr wrap="square" lIns="0" tIns="0" rIns="0" bIns="0" rtlCol="0" anchor="ctr"/>
          <a:lstStyle/>
          <a:p>
            <a:pPr marL="0" indent="0">
              <a:buNone/>
            </a:pPr>
            <a:r>
              <a:rPr lang="en-US" sz="2000" b="1" dirty="0">
                <a:solidFill>
                  <a:srgbClr val="0B78D0"/>
                </a:solidFill>
              </a:rPr>
              <a:t>The Impact</a:t>
            </a:r>
            <a:endParaRPr lang="en-US" sz="2000" dirty="0"/>
          </a:p>
        </p:txBody>
      </p:sp>
      <p:sp>
        <p:nvSpPr>
          <p:cNvPr id="9" name="Text 7"/>
          <p:cNvSpPr/>
          <p:nvPr/>
        </p:nvSpPr>
        <p:spPr>
          <a:xfrm>
            <a:off x="1005840" y="4178808"/>
            <a:ext cx="4663440" cy="749808"/>
          </a:xfrm>
          <a:prstGeom prst="rect">
            <a:avLst/>
          </a:prstGeom>
          <a:noFill/>
          <a:ln/>
        </p:spPr>
        <p:txBody>
          <a:bodyPr wrap="square" lIns="0" tIns="0" rIns="0" bIns="0" rtlCol="0" anchor="ctr">
            <a:normAutofit/>
          </a:bodyPr>
          <a:lstStyle/>
          <a:p>
            <a:pPr marL="0" indent="0">
              <a:buNone/>
            </a:pPr>
            <a:r>
              <a:rPr lang="en-US" sz="1600" dirty="0">
                <a:solidFill>
                  <a:srgbClr val="1E293B"/>
                </a:solidFill>
              </a:rPr>
              <a:t>To switch from Boeing 737 parts to larger Boeing 777 parts, the central computer loads a new digital file and robots fetch the new drill bits.</a:t>
            </a:r>
            <a:endParaRPr lang="en-US" sz="1600" dirty="0"/>
          </a:p>
        </p:txBody>
      </p:sp>
      <p:sp>
        <p:nvSpPr>
          <p:cNvPr id="10" name="Shape 8"/>
          <p:cNvSpPr/>
          <p:nvPr/>
        </p:nvSpPr>
        <p:spPr>
          <a:xfrm>
            <a:off x="6309360" y="1325880"/>
            <a:ext cx="5212080" cy="4480560"/>
          </a:xfrm>
          <a:prstGeom prst="roundRect">
            <a:avLst>
              <a:gd name="adj" fmla="val 1633"/>
            </a:avLst>
          </a:prstGeom>
          <a:solidFill>
            <a:srgbClr val="EAF4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1" name="Text 9"/>
          <p:cNvSpPr/>
          <p:nvPr/>
        </p:nvSpPr>
        <p:spPr>
          <a:xfrm>
            <a:off x="6629400" y="1645920"/>
            <a:ext cx="4663440" cy="274320"/>
          </a:xfrm>
          <a:prstGeom prst="rect">
            <a:avLst/>
          </a:prstGeom>
          <a:noFill/>
          <a:ln/>
        </p:spPr>
        <p:txBody>
          <a:bodyPr wrap="square" lIns="0" tIns="0" rIns="0" bIns="0" rtlCol="0" anchor="ctr"/>
          <a:lstStyle/>
          <a:p>
            <a:pPr marL="0" indent="0">
              <a:buNone/>
            </a:pPr>
            <a:endParaRPr lang="en-US" sz="2000" dirty="0"/>
          </a:p>
        </p:txBody>
      </p:sp>
      <p:sp>
        <p:nvSpPr>
          <p:cNvPr id="12" name="Text 10"/>
          <p:cNvSpPr/>
          <p:nvPr/>
        </p:nvSpPr>
        <p:spPr>
          <a:xfrm>
            <a:off x="6629400" y="2560320"/>
            <a:ext cx="4526280" cy="1737360"/>
          </a:xfrm>
          <a:prstGeom prst="rect">
            <a:avLst/>
          </a:prstGeom>
          <a:noFill/>
          <a:ln/>
        </p:spPr>
        <p:txBody>
          <a:bodyPr wrap="square" lIns="0" tIns="0" rIns="0" bIns="0" rtlCol="0" anchor="ctr">
            <a:normAutofit/>
          </a:bodyPr>
          <a:lstStyle/>
          <a:p>
            <a:pPr marL="0" indent="0">
              <a:buNone/>
            </a:pPr>
            <a:r>
              <a:rPr lang="en-US" sz="1600" i="1" dirty="0">
                <a:solidFill>
                  <a:srgbClr val="1E293B"/>
                </a:solidFill>
              </a:rPr>
              <a:t>“So, whether it is building a custom car every 60 seconds or carving a perfect jet engine part overnight, FMS is the engine behind modern industry. But how do these machines actually know what to do without crashing into each other?”</a:t>
            </a:r>
            <a:endParaRPr lang="en-US" sz="16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Implementation: Hardware</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Multi-axis CNC and robotics make the physical system flexible.</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sp>
        <p:nvSpPr>
          <p:cNvPr id="6" name="Shape 3"/>
          <p:cNvSpPr/>
          <p:nvPr/>
        </p:nvSpPr>
        <p:spPr>
          <a:xfrm>
            <a:off x="6309360" y="1280160"/>
            <a:ext cx="5212080" cy="4526280"/>
          </a:xfrm>
          <a:prstGeom prst="roundRect">
            <a:avLst>
              <a:gd name="adj" fmla="val 1616"/>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629400" y="1600200"/>
            <a:ext cx="4526280" cy="3566160"/>
          </a:xfrm>
          <a:prstGeom prst="rect">
            <a:avLst/>
          </a:prstGeom>
          <a:noFill/>
          <a:ln/>
        </p:spPr>
        <p:txBody>
          <a:bodyPr wrap="square" lIns="1016" tIns="1016" rIns="1016" bIns="1016" rtlCol="0" anchor="t">
            <a:normAutofit/>
          </a:bodyPr>
          <a:lstStyle/>
          <a:p>
            <a:pPr marL="0" indent="0">
              <a:buNone/>
            </a:pPr>
            <a:r>
              <a:rPr lang="en-US" sz="1520" b="1" dirty="0">
                <a:solidFill>
                  <a:srgbClr val="0B78D0"/>
                </a:solidFill>
              </a:rPr>
              <a:t>• </a:t>
            </a:r>
            <a:r>
              <a:rPr lang="en-US" sz="1520" dirty="0">
                <a:solidFill>
                  <a:srgbClr val="1E293B"/>
                </a:solidFill>
              </a:rPr>
              <a:t>Beyond X, Y, and Z: FMS often uses 5-axis or even 7-axis CNC machines.
</a:t>
            </a:r>
            <a:r>
              <a:rPr lang="en-US" sz="1520" b="1" dirty="0">
                <a:solidFill>
                  <a:srgbClr val="0B78D0"/>
                </a:solidFill>
              </a:rPr>
              <a:t>• </a:t>
            </a:r>
            <a:r>
              <a:rPr lang="en-US" sz="1520" dirty="0">
                <a:solidFill>
                  <a:srgbClr val="1E293B"/>
                </a:solidFill>
              </a:rPr>
              <a:t>Benefit: the machine reaches every side of a part without manual flipping.
</a:t>
            </a:r>
            <a:r>
              <a:rPr lang="en-US" sz="1520" b="1" dirty="0">
                <a:solidFill>
                  <a:srgbClr val="0B78D0"/>
                </a:solidFill>
              </a:rPr>
              <a:t>• </a:t>
            </a:r>
            <a:r>
              <a:rPr lang="en-US" sz="1520" dirty="0">
                <a:solidFill>
                  <a:srgbClr val="1E293B"/>
                </a:solidFill>
              </a:rPr>
              <a:t>Tool magazine: a library of drills, sanders, and polishers allows automatic tool changes.
</a:t>
            </a:r>
            <a:r>
              <a:rPr lang="en-US" sz="1520" b="1" dirty="0">
                <a:solidFill>
                  <a:srgbClr val="0B78D0"/>
                </a:solidFill>
              </a:rPr>
              <a:t>• </a:t>
            </a:r>
            <a:r>
              <a:rPr lang="en-US" sz="1520" dirty="0">
                <a:solidFill>
                  <a:srgbClr val="1E293B"/>
                </a:solidFill>
              </a:rPr>
              <a:t>One-and-Done: turn raw material into a finished product in one setup.</a:t>
            </a:r>
            <a:endParaRPr lang="en-US" sz="152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12</a:t>
            </a:fld>
            <a:endParaRPr lang="en-US"/>
          </a:p>
        </p:txBody>
      </p:sp>
      <p:pic>
        <p:nvPicPr>
          <p:cNvPr id="9" name="Picture 8">
            <a:extLst>
              <a:ext uri="{FF2B5EF4-FFF2-40B4-BE49-F238E27FC236}">
                <a16:creationId xmlns:a16="http://schemas.microsoft.com/office/drawing/2014/main" id="{BF25614C-1AE5-048C-A894-3E92F62860F9}"/>
              </a:ext>
            </a:extLst>
          </p:cNvPr>
          <p:cNvPicPr>
            <a:picLocks noChangeAspect="1"/>
          </p:cNvPicPr>
          <p:nvPr/>
        </p:nvPicPr>
        <p:blipFill>
          <a:blip r:embed="rId3"/>
          <a:stretch>
            <a:fillRect/>
          </a:stretch>
        </p:blipFill>
        <p:spPr>
          <a:xfrm>
            <a:off x="670560" y="1280160"/>
            <a:ext cx="5003074" cy="46860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The Virtual Layer: Digital Twins and IoT</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The information systems side of FMS.</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pic>
        <p:nvPicPr>
          <p:cNvPr id="5" name="Image 0" descr="/mnt/data/a_wide_cinematic_industrial_tech_scene_inside_a_mo.png"/>
          <p:cNvPicPr>
            <a:picLocks noChangeAspect="1"/>
          </p:cNvPicPr>
          <p:nvPr/>
        </p:nvPicPr>
        <p:blipFill>
          <a:blip r:embed="rId3"/>
          <a:srcRect l="14754" r="14754"/>
          <a:stretch/>
        </p:blipFill>
        <p:spPr>
          <a:xfrm>
            <a:off x="594360" y="1280160"/>
            <a:ext cx="5669280" cy="4526280"/>
          </a:xfrm>
          <a:prstGeom prst="rect">
            <a:avLst/>
          </a:prstGeom>
        </p:spPr>
      </p:pic>
      <p:sp>
        <p:nvSpPr>
          <p:cNvPr id="6" name="Shape 3"/>
          <p:cNvSpPr/>
          <p:nvPr/>
        </p:nvSpPr>
        <p:spPr>
          <a:xfrm>
            <a:off x="6537960" y="1280160"/>
            <a:ext cx="4846320" cy="4526280"/>
          </a:xfrm>
          <a:prstGeom prst="roundRect">
            <a:avLst>
              <a:gd name="adj" fmla="val 1616"/>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858000" y="1600200"/>
            <a:ext cx="4297680" cy="274320"/>
          </a:xfrm>
          <a:prstGeom prst="rect">
            <a:avLst/>
          </a:prstGeom>
          <a:noFill/>
          <a:ln/>
        </p:spPr>
        <p:txBody>
          <a:bodyPr wrap="square" lIns="0" tIns="0" rIns="0" bIns="0" rtlCol="0" anchor="ctr"/>
          <a:lstStyle/>
          <a:p>
            <a:pPr marL="0" indent="0">
              <a:buNone/>
            </a:pPr>
            <a:r>
              <a:rPr lang="en-US" sz="2000" b="1" dirty="0">
                <a:solidFill>
                  <a:srgbClr val="0B78D0"/>
                </a:solidFill>
              </a:rPr>
              <a:t>Digital Twin</a:t>
            </a:r>
            <a:endParaRPr lang="en-US" sz="2000" dirty="0"/>
          </a:p>
        </p:txBody>
      </p:sp>
      <p:sp>
        <p:nvSpPr>
          <p:cNvPr id="8" name="Text 5"/>
          <p:cNvSpPr/>
          <p:nvPr/>
        </p:nvSpPr>
        <p:spPr>
          <a:xfrm>
            <a:off x="6858000" y="1975104"/>
            <a:ext cx="4160520" cy="685800"/>
          </a:xfrm>
          <a:prstGeom prst="rect">
            <a:avLst/>
          </a:prstGeom>
          <a:noFill/>
          <a:ln/>
        </p:spPr>
        <p:txBody>
          <a:bodyPr wrap="square" lIns="0" tIns="0" rIns="0" bIns="0" rtlCol="0" anchor="ctr">
            <a:normAutofit/>
          </a:bodyPr>
          <a:lstStyle/>
          <a:p>
            <a:pPr marL="0" indent="0">
              <a:buNone/>
            </a:pPr>
            <a:r>
              <a:rPr lang="en-US" sz="1450" dirty="0">
                <a:solidFill>
                  <a:srgbClr val="1E293B"/>
                </a:solidFill>
              </a:rPr>
              <a:t>A perfect virtual 3D replica of the physical factory floor. Engineers simulate the full production before cutting metal.</a:t>
            </a:r>
            <a:endParaRPr lang="en-US" sz="1450" dirty="0"/>
          </a:p>
        </p:txBody>
      </p:sp>
      <p:sp>
        <p:nvSpPr>
          <p:cNvPr id="9" name="Text 6"/>
          <p:cNvSpPr/>
          <p:nvPr/>
        </p:nvSpPr>
        <p:spPr>
          <a:xfrm>
            <a:off x="6858000" y="2852928"/>
            <a:ext cx="4297680" cy="274320"/>
          </a:xfrm>
          <a:prstGeom prst="rect">
            <a:avLst/>
          </a:prstGeom>
          <a:noFill/>
          <a:ln/>
        </p:spPr>
        <p:txBody>
          <a:bodyPr wrap="square" lIns="0" tIns="0" rIns="0" bIns="0" rtlCol="0" anchor="ctr"/>
          <a:lstStyle/>
          <a:p>
            <a:pPr marL="0" indent="0">
              <a:buNone/>
            </a:pPr>
            <a:r>
              <a:rPr lang="en-US" sz="2000" b="1" dirty="0">
                <a:solidFill>
                  <a:srgbClr val="0B78D0"/>
                </a:solidFill>
              </a:rPr>
              <a:t>Minimizing Downtime</a:t>
            </a:r>
            <a:endParaRPr lang="en-US" sz="2000" dirty="0"/>
          </a:p>
        </p:txBody>
      </p:sp>
      <p:sp>
        <p:nvSpPr>
          <p:cNvPr id="10" name="Text 7"/>
          <p:cNvSpPr/>
          <p:nvPr/>
        </p:nvSpPr>
        <p:spPr>
          <a:xfrm>
            <a:off x="6858000" y="3246120"/>
            <a:ext cx="4160520" cy="868680"/>
          </a:xfrm>
          <a:prstGeom prst="rect">
            <a:avLst/>
          </a:prstGeom>
          <a:noFill/>
          <a:ln/>
        </p:spPr>
        <p:txBody>
          <a:bodyPr wrap="square" lIns="1016" tIns="1016" rIns="1016" bIns="1016" rtlCol="0" anchor="t">
            <a:normAutofit/>
          </a:bodyPr>
          <a:lstStyle/>
          <a:p>
            <a:pPr marL="0" indent="0">
              <a:buNone/>
            </a:pPr>
            <a:r>
              <a:rPr lang="en-US" sz="1350" b="1" dirty="0">
                <a:solidFill>
                  <a:srgbClr val="0B78D0"/>
                </a:solidFill>
              </a:rPr>
              <a:t>• </a:t>
            </a:r>
            <a:r>
              <a:rPr lang="en-US" sz="1350" dirty="0">
                <a:solidFill>
                  <a:srgbClr val="1E293B"/>
                </a:solidFill>
              </a:rPr>
              <a:t>Collision detection: checks if robot arms hit walls or machines.
</a:t>
            </a:r>
            <a:r>
              <a:rPr lang="en-US" sz="1350" b="1" dirty="0">
                <a:solidFill>
                  <a:srgbClr val="0B78D0"/>
                </a:solidFill>
              </a:rPr>
              <a:t>• </a:t>
            </a:r>
            <a:r>
              <a:rPr lang="en-US" sz="1350" dirty="0">
                <a:solidFill>
                  <a:srgbClr val="1E293B"/>
                </a:solidFill>
              </a:rPr>
              <a:t>Optimization: runs 1,000 scenarios to find the fastest flow.</a:t>
            </a:r>
            <a:endParaRPr lang="en-US" sz="1350" dirty="0"/>
          </a:p>
        </p:txBody>
      </p:sp>
      <p:sp>
        <p:nvSpPr>
          <p:cNvPr id="11" name="Text 8"/>
          <p:cNvSpPr/>
          <p:nvPr/>
        </p:nvSpPr>
        <p:spPr>
          <a:xfrm>
            <a:off x="6858000" y="4480560"/>
            <a:ext cx="4297680" cy="274320"/>
          </a:xfrm>
          <a:prstGeom prst="rect">
            <a:avLst/>
          </a:prstGeom>
          <a:noFill/>
          <a:ln/>
        </p:spPr>
        <p:txBody>
          <a:bodyPr wrap="square" lIns="0" tIns="0" rIns="0" bIns="0" rtlCol="0" anchor="ctr"/>
          <a:lstStyle/>
          <a:p>
            <a:pPr marL="0" indent="0">
              <a:buNone/>
            </a:pPr>
            <a:r>
              <a:rPr lang="en-US" sz="2000" b="1" dirty="0">
                <a:solidFill>
                  <a:srgbClr val="0B78D0"/>
                </a:solidFill>
              </a:rPr>
              <a:t>IoT Sensors</a:t>
            </a:r>
            <a:endParaRPr lang="en-US" sz="2000" dirty="0"/>
          </a:p>
        </p:txBody>
      </p:sp>
      <p:sp>
        <p:nvSpPr>
          <p:cNvPr id="12" name="Text 9"/>
          <p:cNvSpPr/>
          <p:nvPr/>
        </p:nvSpPr>
        <p:spPr>
          <a:xfrm>
            <a:off x="6858000" y="4828032"/>
            <a:ext cx="4160520" cy="594360"/>
          </a:xfrm>
          <a:prstGeom prst="rect">
            <a:avLst/>
          </a:prstGeom>
          <a:noFill/>
          <a:ln/>
        </p:spPr>
        <p:txBody>
          <a:bodyPr wrap="square" lIns="0" tIns="0" rIns="0" bIns="0" rtlCol="0" anchor="ctr">
            <a:normAutofit lnSpcReduction="10000"/>
          </a:bodyPr>
          <a:lstStyle/>
          <a:p>
            <a:pPr marL="0" indent="0">
              <a:buNone/>
            </a:pPr>
            <a:r>
              <a:rPr lang="en-US" sz="1320" dirty="0">
                <a:solidFill>
                  <a:srgbClr val="1E293B"/>
                </a:solidFill>
              </a:rPr>
              <a:t>Sensors act as nerve endings, feeding real-time data such as vibration, temperature, and speed back to the Digital Twin.</a:t>
            </a:r>
            <a:endParaRPr lang="en-US" sz="132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Data Integration &amp; Real-Time Response</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An FMS is only as good as its ability to communicate.</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sp>
        <p:nvSpPr>
          <p:cNvPr id="5" name="Shape 3"/>
          <p:cNvSpPr/>
          <p:nvPr/>
        </p:nvSpPr>
        <p:spPr>
          <a:xfrm>
            <a:off x="731520" y="1417320"/>
            <a:ext cx="5166360" cy="1645920"/>
          </a:xfrm>
          <a:prstGeom prst="roundRect">
            <a:avLst>
              <a:gd name="adj" fmla="val 4444"/>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6" name="Text 4"/>
          <p:cNvSpPr/>
          <p:nvPr/>
        </p:nvSpPr>
        <p:spPr>
          <a:xfrm>
            <a:off x="1051560" y="1673352"/>
            <a:ext cx="4526280" cy="274320"/>
          </a:xfrm>
          <a:prstGeom prst="rect">
            <a:avLst/>
          </a:prstGeom>
          <a:noFill/>
          <a:ln/>
        </p:spPr>
        <p:txBody>
          <a:bodyPr wrap="square" lIns="0" tIns="0" rIns="0" bIns="0" rtlCol="0" anchor="ctr"/>
          <a:lstStyle/>
          <a:p>
            <a:pPr marL="0" indent="0">
              <a:buNone/>
            </a:pPr>
            <a:r>
              <a:rPr lang="en-US" sz="1900" b="1" dirty="0">
                <a:solidFill>
                  <a:srgbClr val="0B78D0"/>
                </a:solidFill>
              </a:rPr>
              <a:t>Dynamic Scheduling</a:t>
            </a:r>
            <a:endParaRPr lang="en-US" sz="1900" dirty="0"/>
          </a:p>
        </p:txBody>
      </p:sp>
      <p:sp>
        <p:nvSpPr>
          <p:cNvPr id="7" name="Text 5"/>
          <p:cNvSpPr/>
          <p:nvPr/>
        </p:nvSpPr>
        <p:spPr>
          <a:xfrm>
            <a:off x="1051560" y="2075688"/>
            <a:ext cx="4526280" cy="749808"/>
          </a:xfrm>
          <a:prstGeom prst="rect">
            <a:avLst/>
          </a:prstGeom>
          <a:noFill/>
          <a:ln/>
        </p:spPr>
        <p:txBody>
          <a:bodyPr wrap="square" lIns="0" tIns="0" rIns="0" bIns="0" rtlCol="0" anchor="ctr">
            <a:normAutofit/>
          </a:bodyPr>
          <a:lstStyle/>
          <a:p>
            <a:pPr marL="0" indent="0">
              <a:buNone/>
            </a:pPr>
            <a:r>
              <a:rPr lang="en-US" sz="1450" dirty="0">
                <a:solidFill>
                  <a:srgbClr val="1E293B"/>
                </a:solidFill>
              </a:rPr>
              <a:t>A high-priority rush order arrives. The central computer recalculates the schedule, tells AGVs to move rush parts forward, and updates delivery estimates.</a:t>
            </a:r>
            <a:endParaRPr lang="en-US" sz="1450" dirty="0"/>
          </a:p>
        </p:txBody>
      </p:sp>
      <p:sp>
        <p:nvSpPr>
          <p:cNvPr id="8" name="Shape 6"/>
          <p:cNvSpPr/>
          <p:nvPr/>
        </p:nvSpPr>
        <p:spPr>
          <a:xfrm>
            <a:off x="6309360" y="1417320"/>
            <a:ext cx="5166360" cy="1645920"/>
          </a:xfrm>
          <a:prstGeom prst="roundRect">
            <a:avLst>
              <a:gd name="adj" fmla="val 4444"/>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9" name="Text 7"/>
          <p:cNvSpPr/>
          <p:nvPr/>
        </p:nvSpPr>
        <p:spPr>
          <a:xfrm>
            <a:off x="6629400" y="1673352"/>
            <a:ext cx="4526280" cy="274320"/>
          </a:xfrm>
          <a:prstGeom prst="rect">
            <a:avLst/>
          </a:prstGeom>
          <a:noFill/>
          <a:ln/>
        </p:spPr>
        <p:txBody>
          <a:bodyPr wrap="square" lIns="0" tIns="0" rIns="0" bIns="0" rtlCol="0" anchor="ctr"/>
          <a:lstStyle/>
          <a:p>
            <a:pPr marL="0" indent="0">
              <a:buNone/>
            </a:pPr>
            <a:r>
              <a:rPr lang="en-US" sz="1900" b="1" dirty="0">
                <a:solidFill>
                  <a:srgbClr val="0B78D0"/>
                </a:solidFill>
              </a:rPr>
              <a:t>Predictive Maintenance</a:t>
            </a:r>
            <a:endParaRPr lang="en-US" sz="1900" dirty="0"/>
          </a:p>
        </p:txBody>
      </p:sp>
      <p:sp>
        <p:nvSpPr>
          <p:cNvPr id="10" name="Text 8"/>
          <p:cNvSpPr/>
          <p:nvPr/>
        </p:nvSpPr>
        <p:spPr>
          <a:xfrm>
            <a:off x="6629400" y="2075688"/>
            <a:ext cx="4526280" cy="749808"/>
          </a:xfrm>
          <a:prstGeom prst="rect">
            <a:avLst/>
          </a:prstGeom>
          <a:noFill/>
          <a:ln/>
        </p:spPr>
        <p:txBody>
          <a:bodyPr wrap="square" lIns="0" tIns="0" rIns="0" bIns="0" rtlCol="0" anchor="ctr">
            <a:normAutofit/>
          </a:bodyPr>
          <a:lstStyle/>
          <a:p>
            <a:pPr marL="0" indent="0">
              <a:buNone/>
            </a:pPr>
            <a:r>
              <a:rPr lang="en-US" sz="1450" dirty="0">
                <a:solidFill>
                  <a:srgbClr val="1E293B"/>
                </a:solidFill>
              </a:rPr>
              <a:t>IoT sensors let the system “hear” when a tool is about to break before it actually does.</a:t>
            </a:r>
            <a:endParaRPr lang="en-US" sz="1450" dirty="0"/>
          </a:p>
        </p:txBody>
      </p:sp>
      <p:sp>
        <p:nvSpPr>
          <p:cNvPr id="11" name="Shape 9"/>
          <p:cNvSpPr/>
          <p:nvPr/>
        </p:nvSpPr>
        <p:spPr>
          <a:xfrm>
            <a:off x="731520" y="3703320"/>
            <a:ext cx="5166360" cy="1645920"/>
          </a:xfrm>
          <a:prstGeom prst="roundRect">
            <a:avLst>
              <a:gd name="adj" fmla="val 4444"/>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2" name="Text 10"/>
          <p:cNvSpPr/>
          <p:nvPr/>
        </p:nvSpPr>
        <p:spPr>
          <a:xfrm>
            <a:off x="1051560" y="3959352"/>
            <a:ext cx="4526280" cy="274320"/>
          </a:xfrm>
          <a:prstGeom prst="rect">
            <a:avLst/>
          </a:prstGeom>
          <a:noFill/>
          <a:ln/>
        </p:spPr>
        <p:txBody>
          <a:bodyPr wrap="square" lIns="0" tIns="0" rIns="0" bIns="0" rtlCol="0" anchor="ctr"/>
          <a:lstStyle/>
          <a:p>
            <a:pPr marL="0" indent="0">
              <a:buNone/>
            </a:pPr>
            <a:r>
              <a:rPr lang="en-US" sz="1900" b="1" dirty="0">
                <a:solidFill>
                  <a:srgbClr val="0B78D0"/>
                </a:solidFill>
              </a:rPr>
              <a:t>Real-Time Adjustment</a:t>
            </a:r>
            <a:endParaRPr lang="en-US" sz="1900" dirty="0"/>
          </a:p>
        </p:txBody>
      </p:sp>
      <p:sp>
        <p:nvSpPr>
          <p:cNvPr id="13" name="Text 11"/>
          <p:cNvSpPr/>
          <p:nvPr/>
        </p:nvSpPr>
        <p:spPr>
          <a:xfrm>
            <a:off x="1051560" y="4361688"/>
            <a:ext cx="4526280" cy="749808"/>
          </a:xfrm>
          <a:prstGeom prst="rect">
            <a:avLst/>
          </a:prstGeom>
          <a:noFill/>
          <a:ln/>
        </p:spPr>
        <p:txBody>
          <a:bodyPr wrap="square" lIns="0" tIns="0" rIns="0" bIns="0" rtlCol="0" anchor="ctr">
            <a:normAutofit/>
          </a:bodyPr>
          <a:lstStyle/>
          <a:p>
            <a:pPr marL="0" indent="0">
              <a:buNone/>
            </a:pPr>
            <a:r>
              <a:rPr lang="en-US" sz="1450" dirty="0">
                <a:solidFill>
                  <a:srgbClr val="1E293B"/>
                </a:solidFill>
              </a:rPr>
              <a:t>If a drill bit is getting dull, the system schedules a tool change or reroutes the part to a machine with a fresh tool.</a:t>
            </a:r>
            <a:endParaRPr lang="en-US" sz="1450" dirty="0"/>
          </a:p>
        </p:txBody>
      </p:sp>
      <p:sp>
        <p:nvSpPr>
          <p:cNvPr id="14" name="Shape 12"/>
          <p:cNvSpPr/>
          <p:nvPr/>
        </p:nvSpPr>
        <p:spPr>
          <a:xfrm>
            <a:off x="6309360" y="3703320"/>
            <a:ext cx="5166360" cy="1645920"/>
          </a:xfrm>
          <a:prstGeom prst="roundRect">
            <a:avLst>
              <a:gd name="adj" fmla="val 4444"/>
            </a:avLst>
          </a:prstGeom>
          <a:solidFill>
            <a:srgbClr val="EAF4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15" name="Text 13"/>
          <p:cNvSpPr/>
          <p:nvPr/>
        </p:nvSpPr>
        <p:spPr>
          <a:xfrm>
            <a:off x="6629400" y="3959352"/>
            <a:ext cx="4526280" cy="274320"/>
          </a:xfrm>
          <a:prstGeom prst="rect">
            <a:avLst/>
          </a:prstGeom>
          <a:noFill/>
          <a:ln/>
        </p:spPr>
        <p:txBody>
          <a:bodyPr wrap="square" lIns="0" tIns="0" rIns="0" bIns="0" rtlCol="0" anchor="ctr"/>
          <a:lstStyle/>
          <a:p>
            <a:pPr marL="0" indent="0">
              <a:buNone/>
            </a:pPr>
            <a:r>
              <a:rPr lang="en-US" sz="1900" b="1" dirty="0">
                <a:solidFill>
                  <a:srgbClr val="0B78D0"/>
                </a:solidFill>
              </a:rPr>
              <a:t>The Nervous System</a:t>
            </a:r>
            <a:endParaRPr lang="en-US" sz="1900" dirty="0"/>
          </a:p>
        </p:txBody>
      </p:sp>
      <p:sp>
        <p:nvSpPr>
          <p:cNvPr id="16" name="Text 14"/>
          <p:cNvSpPr/>
          <p:nvPr/>
        </p:nvSpPr>
        <p:spPr>
          <a:xfrm>
            <a:off x="6629400" y="4361688"/>
            <a:ext cx="4526280" cy="749808"/>
          </a:xfrm>
          <a:prstGeom prst="rect">
            <a:avLst/>
          </a:prstGeom>
          <a:noFill/>
          <a:ln/>
        </p:spPr>
        <p:txBody>
          <a:bodyPr wrap="square" lIns="0" tIns="0" rIns="0" bIns="0" rtlCol="0" anchor="ctr">
            <a:normAutofit/>
          </a:bodyPr>
          <a:lstStyle/>
          <a:p>
            <a:pPr marL="0" indent="0">
              <a:buNone/>
            </a:pPr>
            <a:r>
              <a:rPr lang="en-US" sz="1450" dirty="0">
                <a:solidFill>
                  <a:srgbClr val="1E293B"/>
                </a:solidFill>
              </a:rPr>
              <a:t>Full-stack integration connects the customer order software directly to the robot movements in hardware.</a:t>
            </a:r>
            <a:endParaRPr lang="en-US" sz="145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56032"/>
            <a:ext cx="11064240" cy="438912"/>
          </a:xfrm>
          <a:prstGeom prst="rect">
            <a:avLst/>
          </a:prstGeom>
          <a:noFill/>
          <a:ln/>
        </p:spPr>
        <p:txBody>
          <a:bodyPr wrap="square" lIns="0" tIns="0" rIns="0" bIns="0" rtlCol="0" anchor="ctr"/>
          <a:lstStyle/>
          <a:p>
            <a:pPr marL="0" indent="0">
              <a:buNone/>
            </a:pPr>
            <a:r>
              <a:rPr lang="en-US" sz="3000" b="1" dirty="0">
                <a:solidFill>
                  <a:srgbClr val="0F2447"/>
                </a:solidFill>
                <a:latin typeface="Aptos Display" pitchFamily="34" charset="0"/>
                <a:ea typeface="Aptos Display" pitchFamily="34" charset="-122"/>
                <a:cs typeface="Aptos Display" pitchFamily="34" charset="-120"/>
              </a:rPr>
              <a:t> Economics and Future Trends</a:t>
            </a:r>
            <a:endParaRPr lang="en-US" sz="3000" dirty="0"/>
          </a:p>
        </p:txBody>
      </p:sp>
      <p:sp>
        <p:nvSpPr>
          <p:cNvPr id="3" name="Text 1"/>
          <p:cNvSpPr/>
          <p:nvPr/>
        </p:nvSpPr>
        <p:spPr>
          <a:xfrm>
            <a:off x="566928" y="786384"/>
            <a:ext cx="10972800" cy="292608"/>
          </a:xfrm>
          <a:prstGeom prst="rect">
            <a:avLst/>
          </a:prstGeom>
          <a:noFill/>
          <a:ln/>
        </p:spPr>
        <p:txBody>
          <a:bodyPr wrap="square" lIns="0" tIns="0" rIns="0" bIns="0" rtlCol="0" anchor="ctr"/>
          <a:lstStyle/>
          <a:p>
            <a:pPr marL="0" indent="0">
              <a:buNone/>
            </a:pPr>
            <a:r>
              <a:rPr lang="en-US" sz="1300" dirty="0">
                <a:solidFill>
                  <a:srgbClr val="64748B"/>
                </a:solidFill>
              </a:rPr>
              <a:t>The “buy once, cry once” strategy.</a:t>
            </a:r>
            <a:endParaRPr lang="en-US" sz="1300" dirty="0"/>
          </a:p>
        </p:txBody>
      </p:sp>
      <p:sp>
        <p:nvSpPr>
          <p:cNvPr id="4" name="Shape 2"/>
          <p:cNvSpPr/>
          <p:nvPr/>
        </p:nvSpPr>
        <p:spPr>
          <a:xfrm>
            <a:off x="548640" y="1078992"/>
            <a:ext cx="2057400" cy="0"/>
          </a:xfrm>
          <a:prstGeom prst="line">
            <a:avLst/>
          </a:prstGeom>
          <a:noFill/>
          <a:ln w="38100">
            <a:solidFill>
              <a:srgbClr val="0B78D0"/>
            </a:solidFill>
            <a:prstDash val="solid"/>
          </a:ln>
        </p:spPr>
        <p:txBody>
          <a:bodyPr/>
          <a:lstStyle/>
          <a:p>
            <a:endParaRPr lang="en-US"/>
          </a:p>
        </p:txBody>
      </p:sp>
      <p:pic>
        <p:nvPicPr>
          <p:cNvPr id="5" name="Image 0" descr="/mnt/data/wide_ultra_clean_futuristic_industrial_manufactur.png"/>
          <p:cNvPicPr>
            <a:picLocks noChangeAspect="1"/>
          </p:cNvPicPr>
          <p:nvPr/>
        </p:nvPicPr>
        <p:blipFill>
          <a:blip r:embed="rId3"/>
          <a:srcRect l="16175" r="16175"/>
          <a:stretch/>
        </p:blipFill>
        <p:spPr>
          <a:xfrm>
            <a:off x="594360" y="1280160"/>
            <a:ext cx="5440680" cy="4526280"/>
          </a:xfrm>
          <a:prstGeom prst="rect">
            <a:avLst/>
          </a:prstGeom>
        </p:spPr>
      </p:pic>
      <p:sp>
        <p:nvSpPr>
          <p:cNvPr id="6" name="Shape 3"/>
          <p:cNvSpPr/>
          <p:nvPr/>
        </p:nvSpPr>
        <p:spPr>
          <a:xfrm>
            <a:off x="6309360" y="1280160"/>
            <a:ext cx="5212080" cy="4526280"/>
          </a:xfrm>
          <a:prstGeom prst="roundRect">
            <a:avLst>
              <a:gd name="adj" fmla="val 1616"/>
            </a:avLst>
          </a:prstGeom>
          <a:solidFill>
            <a:srgbClr val="FFFFFF"/>
          </a:solidFill>
          <a:ln w="17780">
            <a:solidFill>
              <a:srgbClr val="D8E8F9"/>
            </a:solidFill>
            <a:prstDash val="solid"/>
          </a:ln>
          <a:effectLst>
            <a:outerShdw blurRad="25400" dist="50800" dir="2700000" algn="bl" rotWithShape="0">
              <a:srgbClr val="C8D9EA">
                <a:alpha val="22000"/>
              </a:srgbClr>
            </a:outerShdw>
          </a:effectLst>
        </p:spPr>
        <p:txBody>
          <a:bodyPr/>
          <a:lstStyle/>
          <a:p>
            <a:endParaRPr lang="en-US"/>
          </a:p>
        </p:txBody>
      </p:sp>
      <p:sp>
        <p:nvSpPr>
          <p:cNvPr id="7" name="Text 4"/>
          <p:cNvSpPr/>
          <p:nvPr/>
        </p:nvSpPr>
        <p:spPr>
          <a:xfrm>
            <a:off x="6629400" y="1600200"/>
            <a:ext cx="4526280" cy="274320"/>
          </a:xfrm>
          <a:prstGeom prst="rect">
            <a:avLst/>
          </a:prstGeom>
          <a:noFill/>
          <a:ln/>
        </p:spPr>
        <p:txBody>
          <a:bodyPr wrap="square" lIns="0" tIns="0" rIns="0" bIns="0" rtlCol="0" anchor="ctr"/>
          <a:lstStyle/>
          <a:p>
            <a:pPr marL="0" indent="0">
              <a:buNone/>
            </a:pPr>
            <a:r>
              <a:rPr lang="en-US" sz="2000" b="1" dirty="0">
                <a:solidFill>
                  <a:srgbClr val="0B78D0"/>
                </a:solidFill>
              </a:rPr>
              <a:t>The Economics</a:t>
            </a:r>
            <a:endParaRPr lang="en-US" sz="2000" dirty="0"/>
          </a:p>
        </p:txBody>
      </p:sp>
      <p:sp>
        <p:nvSpPr>
          <p:cNvPr id="8" name="Text 5"/>
          <p:cNvSpPr/>
          <p:nvPr/>
        </p:nvSpPr>
        <p:spPr>
          <a:xfrm>
            <a:off x="6629400" y="1947672"/>
            <a:ext cx="4526280" cy="1737360"/>
          </a:xfrm>
          <a:prstGeom prst="rect">
            <a:avLst/>
          </a:prstGeom>
          <a:noFill/>
          <a:ln/>
        </p:spPr>
        <p:txBody>
          <a:bodyPr wrap="square" lIns="1016" tIns="1016" rIns="1016" bIns="1016" rtlCol="0" anchor="t">
            <a:normAutofit/>
          </a:bodyPr>
          <a:lstStyle/>
          <a:p>
            <a:pPr marL="0" indent="0">
              <a:buNone/>
            </a:pPr>
            <a:r>
              <a:rPr lang="en-US" sz="1350" b="1" dirty="0">
                <a:solidFill>
                  <a:srgbClr val="0B78D0"/>
                </a:solidFill>
              </a:rPr>
              <a:t>• </a:t>
            </a:r>
            <a:r>
              <a:rPr lang="en-US" sz="1350" dirty="0">
                <a:solidFill>
                  <a:srgbClr val="1E293B"/>
                </a:solidFill>
              </a:rPr>
              <a:t>High barrier: robotics, software, and specialized staff are expensive.
</a:t>
            </a:r>
            <a:r>
              <a:rPr lang="en-US" sz="1350" b="1" dirty="0">
                <a:solidFill>
                  <a:srgbClr val="0B78D0"/>
                </a:solidFill>
              </a:rPr>
              <a:t>• </a:t>
            </a:r>
            <a:r>
              <a:rPr lang="en-US" sz="1350" dirty="0">
                <a:solidFill>
                  <a:srgbClr val="1E293B"/>
                </a:solidFill>
              </a:rPr>
              <a:t>Long-term win: shift from labor-intensive to capital-intensive production.
</a:t>
            </a:r>
            <a:r>
              <a:rPr lang="en-US" sz="1350" b="1" dirty="0">
                <a:solidFill>
                  <a:srgbClr val="0B78D0"/>
                </a:solidFill>
              </a:rPr>
              <a:t>• </a:t>
            </a:r>
            <a:r>
              <a:rPr lang="en-US" sz="1350" dirty="0">
                <a:solidFill>
                  <a:srgbClr val="1E293B"/>
                </a:solidFill>
              </a:rPr>
              <a:t>Savings: labor costs and setup time drop.
</a:t>
            </a:r>
            <a:r>
              <a:rPr lang="en-US" sz="1350" b="1" dirty="0">
                <a:solidFill>
                  <a:srgbClr val="0B78D0"/>
                </a:solidFill>
              </a:rPr>
              <a:t>• </a:t>
            </a:r>
            <a:r>
              <a:rPr lang="en-US" sz="1350" dirty="0">
                <a:solidFill>
                  <a:srgbClr val="1E293B"/>
                </a:solidFill>
              </a:rPr>
              <a:t>Inventory: Just-In-Time production reduces giant warehouses.</a:t>
            </a:r>
            <a:endParaRPr lang="en-US" sz="1350" dirty="0"/>
          </a:p>
        </p:txBody>
      </p:sp>
      <p:sp>
        <p:nvSpPr>
          <p:cNvPr id="9" name="Text 6"/>
          <p:cNvSpPr/>
          <p:nvPr/>
        </p:nvSpPr>
        <p:spPr>
          <a:xfrm>
            <a:off x="6629400" y="3886200"/>
            <a:ext cx="4526280" cy="274320"/>
          </a:xfrm>
          <a:prstGeom prst="rect">
            <a:avLst/>
          </a:prstGeom>
          <a:noFill/>
          <a:ln/>
        </p:spPr>
        <p:txBody>
          <a:bodyPr wrap="square" lIns="0" tIns="0" rIns="0" bIns="0" rtlCol="0" anchor="ctr"/>
          <a:lstStyle/>
          <a:p>
            <a:pPr marL="0" indent="0">
              <a:buNone/>
            </a:pPr>
            <a:r>
              <a:rPr lang="en-US" sz="2000" b="1" dirty="0">
                <a:solidFill>
                  <a:srgbClr val="0B78D0"/>
                </a:solidFill>
              </a:rPr>
              <a:t>Future Trends</a:t>
            </a:r>
            <a:endParaRPr lang="en-US" sz="2000" dirty="0"/>
          </a:p>
        </p:txBody>
      </p:sp>
      <p:sp>
        <p:nvSpPr>
          <p:cNvPr id="10" name="Text 7"/>
          <p:cNvSpPr/>
          <p:nvPr/>
        </p:nvSpPr>
        <p:spPr>
          <a:xfrm>
            <a:off x="6629400" y="4251960"/>
            <a:ext cx="4526280" cy="868680"/>
          </a:xfrm>
          <a:prstGeom prst="rect">
            <a:avLst/>
          </a:prstGeom>
          <a:noFill/>
          <a:ln/>
        </p:spPr>
        <p:txBody>
          <a:bodyPr wrap="square" lIns="1016" tIns="1016" rIns="1016" bIns="1016" rtlCol="0" anchor="t">
            <a:normAutofit/>
          </a:bodyPr>
          <a:lstStyle/>
          <a:p>
            <a:pPr marL="0" indent="0">
              <a:buNone/>
            </a:pPr>
            <a:r>
              <a:rPr lang="en-US" sz="1350" b="1" dirty="0">
                <a:solidFill>
                  <a:srgbClr val="0B78D0"/>
                </a:solidFill>
              </a:rPr>
              <a:t>• </a:t>
            </a:r>
            <a:r>
              <a:rPr lang="en-US" sz="1350" dirty="0">
                <a:solidFill>
                  <a:srgbClr val="1E293B"/>
                </a:solidFill>
              </a:rPr>
              <a:t>Mass customization: “Lot Size One” makes personalized products profitable at scale.
</a:t>
            </a:r>
            <a:r>
              <a:rPr lang="en-US" sz="1350" b="1" dirty="0">
                <a:solidFill>
                  <a:srgbClr val="0B78D0"/>
                </a:solidFill>
              </a:rPr>
              <a:t>• </a:t>
            </a:r>
            <a:r>
              <a:rPr lang="en-US" sz="1350" dirty="0">
                <a:solidFill>
                  <a:srgbClr val="1E293B"/>
                </a:solidFill>
              </a:rPr>
              <a:t>Green manufacturing: less waste and smarter energy use.</a:t>
            </a:r>
            <a:endParaRPr lang="en-US" sz="135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52B"/>
        </a:solidFill>
        <a:effectLst/>
      </p:bgPr>
    </p:bg>
    <p:spTree>
      <p:nvGrpSpPr>
        <p:cNvPr id="1" name=""/>
        <p:cNvGrpSpPr/>
        <p:nvPr/>
      </p:nvGrpSpPr>
      <p:grpSpPr>
        <a:xfrm>
          <a:off x="0" y="0"/>
          <a:ext cx="0" cy="0"/>
          <a:chOff x="0" y="0"/>
          <a:chExt cx="0" cy="0"/>
        </a:xfrm>
      </p:grpSpPr>
      <p:pic>
        <p:nvPicPr>
          <p:cNvPr id="2" name="Image 0" descr="/mnt/data/a_wide_cinematic_industrial_tech_scene_inside_a_mo.png"/>
          <p:cNvPicPr>
            <a:picLocks noChangeAspect="1"/>
          </p:cNvPicPr>
          <p:nvPr/>
        </p:nvPicPr>
        <p:blipFill>
          <a:blip r:embed="rId3"/>
          <a:srcRect l="25312" r="25312"/>
          <a:stretch/>
        </p:blipFill>
        <p:spPr>
          <a:xfrm>
            <a:off x="6172200" y="0"/>
            <a:ext cx="6016752" cy="6858000"/>
          </a:xfrm>
          <a:prstGeom prst="rect">
            <a:avLst/>
          </a:prstGeom>
        </p:spPr>
      </p:pic>
      <p:sp>
        <p:nvSpPr>
          <p:cNvPr id="3" name="Shape 0"/>
          <p:cNvSpPr/>
          <p:nvPr/>
        </p:nvSpPr>
        <p:spPr>
          <a:xfrm>
            <a:off x="0" y="-43854"/>
            <a:ext cx="6172200" cy="6858000"/>
          </a:xfrm>
          <a:prstGeom prst="rect">
            <a:avLst/>
          </a:prstGeom>
          <a:solidFill>
            <a:srgbClr val="0B152B"/>
          </a:solidFill>
          <a:ln w="12700">
            <a:solidFill>
              <a:srgbClr val="333333">
                <a:alpha val="0"/>
              </a:srgbClr>
            </a:solidFill>
            <a:prstDash val="solid"/>
          </a:ln>
        </p:spPr>
        <p:txBody>
          <a:bodyPr/>
          <a:lstStyle/>
          <a:p>
            <a:endParaRPr lang="en-US"/>
          </a:p>
        </p:txBody>
      </p:sp>
      <p:sp>
        <p:nvSpPr>
          <p:cNvPr id="4" name="Text 1"/>
          <p:cNvSpPr/>
          <p:nvPr/>
        </p:nvSpPr>
        <p:spPr>
          <a:xfrm>
            <a:off x="685800" y="658368"/>
            <a:ext cx="5257800" cy="868680"/>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Aptos Display" pitchFamily="34" charset="0"/>
                <a:ea typeface="Aptos Display" pitchFamily="34" charset="-122"/>
                <a:cs typeface="Aptos Display" pitchFamily="34" charset="-120"/>
              </a:rPr>
              <a:t>Summary:</a:t>
            </a:r>
            <a:endParaRPr lang="en-US" sz="3000" dirty="0"/>
          </a:p>
        </p:txBody>
      </p:sp>
      <p:sp>
        <p:nvSpPr>
          <p:cNvPr id="5" name="Shape 2"/>
          <p:cNvSpPr/>
          <p:nvPr/>
        </p:nvSpPr>
        <p:spPr>
          <a:xfrm>
            <a:off x="777240" y="1783080"/>
            <a:ext cx="5166360" cy="2331720"/>
          </a:xfrm>
          <a:prstGeom prst="roundRect">
            <a:avLst>
              <a:gd name="adj" fmla="val 3137"/>
            </a:avLst>
          </a:prstGeom>
          <a:solidFill>
            <a:srgbClr val="FFFFFF">
              <a:alpha val="92000"/>
            </a:srgbClr>
          </a:solidFill>
          <a:ln w="17780">
            <a:solidFill>
              <a:srgbClr val="CFE0F2"/>
            </a:solidFill>
            <a:prstDash val="solid"/>
          </a:ln>
          <a:effectLst>
            <a:outerShdw blurRad="25400" dist="50800" dir="2700000" algn="bl" rotWithShape="0">
              <a:srgbClr val="C8D9EA">
                <a:alpha val="22000"/>
              </a:srgbClr>
            </a:outerShdw>
          </a:effectLst>
        </p:spPr>
        <p:txBody>
          <a:bodyPr/>
          <a:lstStyle/>
          <a:p>
            <a:endParaRPr lang="en-US"/>
          </a:p>
        </p:txBody>
      </p:sp>
      <p:sp>
        <p:nvSpPr>
          <p:cNvPr id="6" name="Text 3"/>
          <p:cNvSpPr/>
          <p:nvPr/>
        </p:nvSpPr>
        <p:spPr>
          <a:xfrm>
            <a:off x="1051560" y="2029968"/>
            <a:ext cx="4617720" cy="1645920"/>
          </a:xfrm>
          <a:prstGeom prst="rect">
            <a:avLst/>
          </a:prstGeom>
          <a:noFill/>
          <a:ln/>
        </p:spPr>
        <p:txBody>
          <a:bodyPr wrap="square" lIns="1016" tIns="1016" rIns="1016" bIns="1016" rtlCol="0" anchor="t">
            <a:normAutofit/>
          </a:bodyPr>
          <a:lstStyle/>
          <a:p>
            <a:pPr marL="0" indent="0">
              <a:buNone/>
            </a:pPr>
            <a:r>
              <a:rPr lang="en-US" sz="1350" b="1" dirty="0">
                <a:solidFill>
                  <a:srgbClr val="0B78D0"/>
                </a:solidFill>
              </a:rPr>
              <a:t>• </a:t>
            </a:r>
            <a:r>
              <a:rPr lang="en-US" sz="1350" dirty="0">
                <a:solidFill>
                  <a:srgbClr val="1E293B"/>
                </a:solidFill>
              </a:rPr>
              <a:t>We started by looking at manufacturing evolving from rigid assembly lines to fluid systems.
</a:t>
            </a:r>
            <a:r>
              <a:rPr lang="en-US" sz="1350" b="1" dirty="0">
                <a:solidFill>
                  <a:srgbClr val="0B78D0"/>
                </a:solidFill>
              </a:rPr>
              <a:t>• </a:t>
            </a:r>
            <a:r>
              <a:rPr lang="en-US" sz="1350" dirty="0">
                <a:solidFill>
                  <a:srgbClr val="1E293B"/>
                </a:solidFill>
              </a:rPr>
              <a:t>We saw how giants like BMW and Lockheed Martin use this to build cars and planes with zero errors.
</a:t>
            </a:r>
            <a:r>
              <a:rPr lang="en-US" sz="1350" b="1" dirty="0">
                <a:solidFill>
                  <a:srgbClr val="0B78D0"/>
                </a:solidFill>
              </a:rPr>
              <a:t>• </a:t>
            </a:r>
            <a:r>
              <a:rPr lang="en-US" sz="1350" dirty="0">
                <a:solidFill>
                  <a:srgbClr val="1E293B"/>
                </a:solidFill>
              </a:rPr>
              <a:t>We explored Digital Twins and AI guiding every movement.</a:t>
            </a:r>
            <a:endParaRPr lang="en-US" sz="1350" dirty="0"/>
          </a:p>
        </p:txBody>
      </p:sp>
      <p:sp>
        <p:nvSpPr>
          <p:cNvPr id="7" name="Text 4"/>
          <p:cNvSpPr/>
          <p:nvPr/>
        </p:nvSpPr>
        <p:spPr>
          <a:xfrm>
            <a:off x="822960" y="4434840"/>
            <a:ext cx="2743200" cy="320040"/>
          </a:xfrm>
          <a:prstGeom prst="rect">
            <a:avLst/>
          </a:prstGeom>
          <a:noFill/>
          <a:ln/>
        </p:spPr>
        <p:txBody>
          <a:bodyPr wrap="square" lIns="0" tIns="0" rIns="0" bIns="0" rtlCol="0" anchor="ctr"/>
          <a:lstStyle/>
          <a:p>
            <a:pPr marL="0" indent="0">
              <a:buNone/>
            </a:pPr>
            <a:r>
              <a:rPr lang="en-US" sz="2100" b="1" dirty="0">
                <a:solidFill>
                  <a:srgbClr val="D9ECFF"/>
                </a:solidFill>
              </a:rPr>
              <a:t>Closing Thought</a:t>
            </a:r>
            <a:endParaRPr lang="en-US" sz="2100" dirty="0"/>
          </a:p>
        </p:txBody>
      </p:sp>
      <p:sp>
        <p:nvSpPr>
          <p:cNvPr id="8" name="Text 5"/>
          <p:cNvSpPr/>
          <p:nvPr/>
        </p:nvSpPr>
        <p:spPr>
          <a:xfrm>
            <a:off x="822960" y="4846320"/>
            <a:ext cx="5166360" cy="822960"/>
          </a:xfrm>
          <a:prstGeom prst="rect">
            <a:avLst/>
          </a:prstGeom>
          <a:noFill/>
          <a:ln/>
        </p:spPr>
        <p:txBody>
          <a:bodyPr wrap="square" lIns="0" tIns="0" rIns="0" bIns="0" rtlCol="0" anchor="ctr">
            <a:normAutofit fontScale="85000" lnSpcReduction="20000"/>
          </a:bodyPr>
          <a:lstStyle/>
          <a:p>
            <a:pPr marL="0" indent="0">
              <a:buNone/>
            </a:pPr>
            <a:r>
              <a:rPr lang="en-US" sz="1800" b="1" dirty="0">
                <a:solidFill>
                  <a:srgbClr val="FFFFFF"/>
                </a:solidFill>
              </a:rPr>
              <a:t>Flexible Manufacturing Systems are the bridge between the industrial past and a customized, sustainable future. It is not just about making things better — it is about making things smarter.</a:t>
            </a:r>
            <a:endParaRPr lang="en-US" sz="1800" dirty="0"/>
          </a:p>
        </p:txBody>
      </p:sp>
      <p:sp>
        <p:nvSpPr>
          <p:cNvPr id="9" name="Text 6"/>
          <p:cNvSpPr/>
          <p:nvPr/>
        </p:nvSpPr>
        <p:spPr>
          <a:xfrm>
            <a:off x="822960" y="5897880"/>
            <a:ext cx="5074920" cy="274320"/>
          </a:xfrm>
          <a:prstGeom prst="rect">
            <a:avLst/>
          </a:prstGeom>
          <a:noFill/>
          <a:ln/>
        </p:spPr>
        <p:txBody>
          <a:bodyPr wrap="square" lIns="0" tIns="0" rIns="0" bIns="0" rtlCol="0" anchor="ctr"/>
          <a:lstStyle/>
          <a:p>
            <a:pPr marL="0" indent="0">
              <a:buNone/>
            </a:pPr>
            <a:endParaRPr lang="en-US" sz="1500" dirty="0"/>
          </a:p>
        </p:txBody>
      </p:sp>
      <p:sp>
        <p:nvSpPr>
          <p:cNvPr id="25" name="Slide Number Placeholder 0"/>
          <p:cNvSpPr>
            <a:spLocks noGrp="1"/>
          </p:cNvSpPr>
          <p:nvPr>
            <p:ph type="sldNum" sz="quarter" idx="4294967295"/>
          </p:nvPr>
        </p:nvSpPr>
        <p:spPr>
          <a:xfrm>
            <a:off x="1124712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100000">
              <a:srgbClr val="002060"/>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89C1E9-197F-B63B-CA42-EA9E86B87ED2}"/>
              </a:ext>
            </a:extLst>
          </p:cNvPr>
          <p:cNvSpPr txBox="1"/>
          <p:nvPr/>
        </p:nvSpPr>
        <p:spPr>
          <a:xfrm>
            <a:off x="3515195" y="2721114"/>
            <a:ext cx="6160650" cy="707886"/>
          </a:xfrm>
          <a:prstGeom prst="rect">
            <a:avLst/>
          </a:prstGeom>
          <a:noFill/>
        </p:spPr>
        <p:txBody>
          <a:bodyPr wrap="square" rtlCol="0">
            <a:spAutoFit/>
          </a:bodyPr>
          <a:lstStyle/>
          <a:p>
            <a:r>
              <a:rPr lang="en-US" sz="4000" b="1" dirty="0">
                <a:solidFill>
                  <a:schemeClr val="bg1"/>
                </a:solidFill>
                <a:latin typeface="+mj-lt"/>
              </a:rPr>
              <a:t>Thank you for listening !</a:t>
            </a:r>
          </a:p>
        </p:txBody>
      </p:sp>
    </p:spTree>
    <p:extLst>
      <p:ext uri="{BB962C8B-B14F-4D97-AF65-F5344CB8AC3E}">
        <p14:creationId xmlns:p14="http://schemas.microsoft.com/office/powerpoint/2010/main" val="2160188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3177</Words>
  <Application>Microsoft Office PowerPoint</Application>
  <PresentationFormat>Widescreen</PresentationFormat>
  <Paragraphs>175</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Applications of Flexible Manufacturing Systems</dc:title>
  <dc:subject>Flexible Manufacturing Systems</dc:subject>
  <dc:creator>OpenAI</dc:creator>
  <cp:lastModifiedBy>Emin Guluzada</cp:lastModifiedBy>
  <cp:revision>4</cp:revision>
  <dcterms:created xsi:type="dcterms:W3CDTF">2026-05-04T09:20:01Z</dcterms:created>
  <dcterms:modified xsi:type="dcterms:W3CDTF">2026-05-04T10:20:38Z</dcterms:modified>
</cp:coreProperties>
</file>